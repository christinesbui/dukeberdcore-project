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1997" r:id="rId2"/>
    <p:sldId id="2004" r:id="rId3"/>
    <p:sldId id="2005" r:id="rId4"/>
    <p:sldId id="2006" r:id="rId5"/>
    <p:sldId id="2007" r:id="rId6"/>
    <p:sldId id="2024" r:id="rId7"/>
    <p:sldId id="2010" r:id="rId8"/>
    <p:sldId id="2025" r:id="rId9"/>
    <p:sldId id="2009" r:id="rId10"/>
    <p:sldId id="2012" r:id="rId11"/>
    <p:sldId id="2013" r:id="rId12"/>
    <p:sldId id="2014" r:id="rId13"/>
    <p:sldId id="2022" r:id="rId14"/>
    <p:sldId id="2015" r:id="rId15"/>
    <p:sldId id="2023" r:id="rId16"/>
    <p:sldId id="2016" r:id="rId17"/>
    <p:sldId id="2017" r:id="rId18"/>
    <p:sldId id="2018" r:id="rId19"/>
    <p:sldId id="2020" r:id="rId20"/>
    <p:sldId id="2021" r:id="rId21"/>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B3C0B0-0CFB-FA52-9E35-ED28F23C4475}" name="Christine Bui" initials="CB" userId="aaf8916ad98c5606"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tacy Palmer" initials="SP" lastIdx="1" clrIdx="0">
    <p:extLst>
      <p:ext uri="{19B8F6BF-5375-455C-9EA6-DF929625EA0E}">
        <p15:presenceInfo xmlns:p15="http://schemas.microsoft.com/office/powerpoint/2012/main" userId="S-1-5-21-2053149899-1891010372-398732264-15658" providerId="AD"/>
      </p:ext>
    </p:extLst>
  </p:cmAuthor>
  <p:cmAuthor id="2" name="Rebecca Redmond, Ph.D." initials="RR"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B"/>
    <a:srgbClr val="FCE284"/>
    <a:srgbClr val="F9C708"/>
    <a:srgbClr val="A5B65E"/>
    <a:srgbClr val="DEC585"/>
    <a:srgbClr val="FFF3D2"/>
    <a:srgbClr val="FBDB65"/>
    <a:srgbClr val="E5E1DD"/>
    <a:srgbClr val="F6F3B3"/>
    <a:srgbClr val="D3DF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746EDD-EEEA-D04C-A6F3-F729A17272EA}" v="4" dt="2024-10-16T15:15:29.2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33" autoAdjust="0"/>
    <p:restoredTop sz="78481" autoAdjust="0"/>
  </p:normalViewPr>
  <p:slideViewPr>
    <p:cSldViewPr>
      <p:cViewPr varScale="1">
        <p:scale>
          <a:sx n="71" d="100"/>
          <a:sy n="71" d="100"/>
        </p:scale>
        <p:origin x="516" y="55"/>
      </p:cViewPr>
      <p:guideLst>
        <p:guide orient="horz" pos="2160"/>
        <p:guide pos="3840"/>
      </p:guideLst>
    </p:cSldViewPr>
  </p:slideViewPr>
  <p:notesTextViewPr>
    <p:cViewPr>
      <p:scale>
        <a:sx n="1" d="1"/>
        <a:sy n="1" d="1"/>
      </p:scale>
      <p:origin x="0" y="0"/>
    </p:cViewPr>
  </p:notesTextViewPr>
  <p:sorterViewPr>
    <p:cViewPr>
      <p:scale>
        <a:sx n="50" d="100"/>
        <a:sy n="50" d="100"/>
      </p:scale>
      <p:origin x="0" y="-7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1" tIns="47111" rIns="94221" bIns="47111" rtlCol="0"/>
          <a:lstStyle>
            <a:lvl1pPr algn="l">
              <a:defRPr sz="1200"/>
            </a:lvl1pPr>
          </a:lstStyle>
          <a:p>
            <a:endParaRPr lang="en-US" dirty="0"/>
          </a:p>
        </p:txBody>
      </p:sp>
      <p:sp>
        <p:nvSpPr>
          <p:cNvPr id="3" name="Date Placeholder 2"/>
          <p:cNvSpPr>
            <a:spLocks noGrp="1"/>
          </p:cNvSpPr>
          <p:nvPr>
            <p:ph type="dt" idx="1"/>
          </p:nvPr>
        </p:nvSpPr>
        <p:spPr>
          <a:xfrm>
            <a:off x="4023093" y="0"/>
            <a:ext cx="3077739" cy="471054"/>
          </a:xfrm>
          <a:prstGeom prst="rect">
            <a:avLst/>
          </a:prstGeom>
        </p:spPr>
        <p:txBody>
          <a:bodyPr vert="horz" lIns="94221" tIns="47111" rIns="94221" bIns="47111" rtlCol="0"/>
          <a:lstStyle>
            <a:lvl1pPr algn="r">
              <a:defRPr sz="1200"/>
            </a:lvl1pPr>
          </a:lstStyle>
          <a:p>
            <a:fld id="{622139BB-9296-4631-8D06-0A1B1E4EA8A1}" type="datetimeFigureOut">
              <a:rPr lang="en-US" smtClean="0"/>
              <a:t>11/20/2025</a:t>
            </a:fld>
            <a:endParaRPr lang="en-US" dirty="0"/>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1" tIns="47111" rIns="94221" bIns="47111" rtlCol="0" anchor="ctr"/>
          <a:lstStyle/>
          <a:p>
            <a:endParaRPr lang="en-US" dirty="0"/>
          </a:p>
        </p:txBody>
      </p:sp>
      <p:sp>
        <p:nvSpPr>
          <p:cNvPr id="5" name="Notes Placeholder 4"/>
          <p:cNvSpPr>
            <a:spLocks noGrp="1"/>
          </p:cNvSpPr>
          <p:nvPr>
            <p:ph type="body" sz="quarter" idx="3"/>
          </p:nvPr>
        </p:nvSpPr>
        <p:spPr>
          <a:xfrm>
            <a:off x="710248" y="4518203"/>
            <a:ext cx="5681980" cy="3696713"/>
          </a:xfrm>
          <a:prstGeom prst="rect">
            <a:avLst/>
          </a:prstGeom>
        </p:spPr>
        <p:txBody>
          <a:bodyPr vert="horz" lIns="94221" tIns="47111" rIns="94221" bIns="4711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3"/>
            <a:ext cx="3077739" cy="471053"/>
          </a:xfrm>
          <a:prstGeom prst="rect">
            <a:avLst/>
          </a:prstGeom>
        </p:spPr>
        <p:txBody>
          <a:bodyPr vert="horz" lIns="94221" tIns="47111" rIns="94221" bIns="47111"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3093" y="8917423"/>
            <a:ext cx="3077739" cy="471053"/>
          </a:xfrm>
          <a:prstGeom prst="rect">
            <a:avLst/>
          </a:prstGeom>
        </p:spPr>
        <p:txBody>
          <a:bodyPr vert="horz" lIns="94221" tIns="47111" rIns="94221" bIns="47111" rtlCol="0" anchor="b"/>
          <a:lstStyle>
            <a:lvl1pPr algn="r">
              <a:defRPr sz="1200"/>
            </a:lvl1pPr>
          </a:lstStyle>
          <a:p>
            <a:fld id="{D7735930-A2CC-4D1C-AB4A-CC5CA2631AF4}" type="slidenum">
              <a:rPr lang="en-US" smtClean="0"/>
              <a:t>‹#›</a:t>
            </a:fld>
            <a:endParaRPr lang="en-US" dirty="0"/>
          </a:p>
        </p:txBody>
      </p:sp>
    </p:spTree>
    <p:extLst>
      <p:ext uri="{BB962C8B-B14F-4D97-AF65-F5344CB8AC3E}">
        <p14:creationId xmlns:p14="http://schemas.microsoft.com/office/powerpoint/2010/main" val="249632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Hi everyone! I’m Christine Bui and I’m a BCTIP intern interning with the Duke Global Health Institute, specifically within the Research Design &amp; Analysis Core. Today, I’ll be presenting the project I’ve been working on discussing the prevalence and rationale for covariate adjustment in cluster randomized trials and this is a scoping review. </a:t>
            </a:r>
          </a:p>
        </p:txBody>
      </p:sp>
      <p:sp>
        <p:nvSpPr>
          <p:cNvPr id="4" name="Slide Number Placeholder 3"/>
          <p:cNvSpPr>
            <a:spLocks noGrp="1"/>
          </p:cNvSpPr>
          <p:nvPr>
            <p:ph type="sldNum" sz="quarter" idx="5"/>
          </p:nvPr>
        </p:nvSpPr>
        <p:spPr/>
        <p:txBody>
          <a:bodyPr/>
          <a:lstStyle/>
          <a:p>
            <a:fld id="{D7735930-A2CC-4D1C-AB4A-CC5CA2631AF4}" type="slidenum">
              <a:rPr lang="en-US" smtClean="0"/>
              <a:t>1</a:t>
            </a:fld>
            <a:endParaRPr lang="en-US" dirty="0"/>
          </a:p>
        </p:txBody>
      </p:sp>
    </p:spTree>
    <p:extLst>
      <p:ext uri="{BB962C8B-B14F-4D97-AF65-F5344CB8AC3E}">
        <p14:creationId xmlns:p14="http://schemas.microsoft.com/office/powerpoint/2010/main" val="3505003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Regarding the overview and structure of the presentation, we’ll discuss the Introduction &amp; Background such as some key terminology and the motivation for this review. Then we’ll go into the Procedures &amp; Methods that will discuss everything about the data such as the data source and the data extraction process. And then we’ll go into Results &amp; Next Steps that discusses the results thus far and planning for next steps. </a:t>
            </a:r>
          </a:p>
        </p:txBody>
      </p:sp>
      <p:sp>
        <p:nvSpPr>
          <p:cNvPr id="4" name="Slide Number Placeholder 3"/>
          <p:cNvSpPr>
            <a:spLocks noGrp="1"/>
          </p:cNvSpPr>
          <p:nvPr>
            <p:ph type="sldNum" sz="quarter" idx="5"/>
          </p:nvPr>
        </p:nvSpPr>
        <p:spPr/>
        <p:txBody>
          <a:bodyPr/>
          <a:lstStyle/>
          <a:p>
            <a:fld id="{D7735930-A2CC-4D1C-AB4A-CC5CA2631AF4}" type="slidenum">
              <a:rPr lang="en-US" smtClean="0"/>
              <a:t>2</a:t>
            </a:fld>
            <a:endParaRPr lang="en-US" dirty="0"/>
          </a:p>
        </p:txBody>
      </p:sp>
    </p:spTree>
    <p:extLst>
      <p:ext uri="{BB962C8B-B14F-4D97-AF65-F5344CB8AC3E}">
        <p14:creationId xmlns:p14="http://schemas.microsoft.com/office/powerpoint/2010/main" val="240795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starting off with the Introduction &amp; Background…</a:t>
            </a:r>
          </a:p>
        </p:txBody>
      </p:sp>
      <p:sp>
        <p:nvSpPr>
          <p:cNvPr id="4" name="Slide Number Placeholder 3"/>
          <p:cNvSpPr>
            <a:spLocks noGrp="1"/>
          </p:cNvSpPr>
          <p:nvPr>
            <p:ph type="sldNum" sz="quarter" idx="5"/>
          </p:nvPr>
        </p:nvSpPr>
        <p:spPr/>
        <p:txBody>
          <a:bodyPr/>
          <a:lstStyle/>
          <a:p>
            <a:fld id="{D7735930-A2CC-4D1C-AB4A-CC5CA2631AF4}" type="slidenum">
              <a:rPr lang="en-US" smtClean="0"/>
              <a:t>3</a:t>
            </a:fld>
            <a:endParaRPr lang="en-US" dirty="0"/>
          </a:p>
        </p:txBody>
      </p:sp>
    </p:spTree>
    <p:extLst>
      <p:ext uri="{BB962C8B-B14F-4D97-AF65-F5344CB8AC3E}">
        <p14:creationId xmlns:p14="http://schemas.microsoft.com/office/powerpoint/2010/main" val="2169647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off with introducing some terminology so in this project, we’ll be using cluster randomized trials where we randomize entire groups called clusters, So instead of assigning people to an intervention or control, we assign units such as schools, clinics, or villages.</a:t>
            </a:r>
          </a:p>
          <a:p>
            <a:endParaRPr lang="en-US" dirty="0"/>
          </a:p>
          <a:p>
            <a:r>
              <a:rPr lang="en-US" dirty="0"/>
              <a:t>And a benefit of randomizing whole groups is that it reduces contamination, and contamination is when people in the control group accidentally become exposed to the intervention so keeping everyone in the same group on the same arm helps prevent that. </a:t>
            </a:r>
          </a:p>
          <a:p>
            <a:endParaRPr lang="en-US" dirty="0"/>
          </a:p>
          <a:p>
            <a:r>
              <a:rPr lang="en-US" dirty="0"/>
              <a:t>But it’s also noted that cluster trials can come with a challenge and that’s the small number of clusters. So for example, we might have 20 clusters instead of 500 individuals. With fewer randomized units, the two groups can end up being different at baseline simply by chance. So because of this, covariate adjustment is important since it helps account for these chance imbalances. </a:t>
            </a:r>
          </a:p>
        </p:txBody>
      </p:sp>
      <p:sp>
        <p:nvSpPr>
          <p:cNvPr id="4" name="Slide Number Placeholder 3"/>
          <p:cNvSpPr>
            <a:spLocks noGrp="1"/>
          </p:cNvSpPr>
          <p:nvPr>
            <p:ph type="sldNum" sz="quarter" idx="5"/>
          </p:nvPr>
        </p:nvSpPr>
        <p:spPr/>
        <p:txBody>
          <a:bodyPr/>
          <a:lstStyle/>
          <a:p>
            <a:fld id="{D7735930-A2CC-4D1C-AB4A-CC5CA2631AF4}" type="slidenum">
              <a:rPr lang="en-US" smtClean="0"/>
              <a:t>4</a:t>
            </a:fld>
            <a:endParaRPr lang="en-US" dirty="0"/>
          </a:p>
        </p:txBody>
      </p:sp>
    </p:spTree>
    <p:extLst>
      <p:ext uri="{BB962C8B-B14F-4D97-AF65-F5344CB8AC3E}">
        <p14:creationId xmlns:p14="http://schemas.microsoft.com/office/powerpoint/2010/main" val="858887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onto covariate adjustment, covariate adjustment is when we add baseline variables into the model that estimates the treatment effect. So instead of just comparing outcomes between the intervention and control groups, we’re also accounting for these baseline measures. </a:t>
            </a:r>
          </a:p>
          <a:p>
            <a:endParaRPr lang="en-US" dirty="0"/>
          </a:p>
          <a:p>
            <a:r>
              <a:rPr lang="en-US" dirty="0"/>
              <a:t>Several reasons as to why we do covariate adjustment is that it improves precision, which also increases the statistical power. This basically means if we include baseline variables that are strongly related to the outcome, the model can explain more of the variation in the data, and we can also get a clearer estimate of the treatment effect. </a:t>
            </a:r>
          </a:p>
          <a:p>
            <a:endParaRPr lang="en-US" dirty="0"/>
          </a:p>
          <a:p>
            <a:r>
              <a:rPr lang="en-US" dirty="0"/>
              <a:t>Adjusting for design variables is when trials stratify or balance on certain variables during randomization. And if a variable is used during randomization, it’s best to also adjust for it, which keeps the analysis aligned with the design of the trial. </a:t>
            </a:r>
          </a:p>
          <a:p>
            <a:endParaRPr lang="en-US" dirty="0"/>
          </a:p>
          <a:p>
            <a:r>
              <a:rPr lang="en-US" dirty="0"/>
              <a:t>And another reason is that it also handles covariate imbalances. So when you randomize on a small number of clusters, the two arms might differ at baseline by chance. So as a result, covariate adjustment helps correct for these random differences so that they don’t bias the treatment effect.</a:t>
            </a:r>
          </a:p>
          <a:p>
            <a:endParaRPr lang="en-US" dirty="0"/>
          </a:p>
          <a:p>
            <a:r>
              <a:rPr lang="en-US" dirty="0"/>
              <a:t>And these are also just several reasons as to why we use covariate adjustment among many other reasons.</a:t>
            </a:r>
          </a:p>
        </p:txBody>
      </p:sp>
      <p:sp>
        <p:nvSpPr>
          <p:cNvPr id="4" name="Slide Number Placeholder 3"/>
          <p:cNvSpPr>
            <a:spLocks noGrp="1"/>
          </p:cNvSpPr>
          <p:nvPr>
            <p:ph type="sldNum" sz="quarter" idx="5"/>
          </p:nvPr>
        </p:nvSpPr>
        <p:spPr/>
        <p:txBody>
          <a:bodyPr/>
          <a:lstStyle/>
          <a:p>
            <a:fld id="{D7735930-A2CC-4D1C-AB4A-CC5CA2631AF4}" type="slidenum">
              <a:rPr lang="en-US" smtClean="0"/>
              <a:t>5</a:t>
            </a:fld>
            <a:endParaRPr lang="en-US" dirty="0"/>
          </a:p>
        </p:txBody>
      </p:sp>
    </p:spTree>
    <p:extLst>
      <p:ext uri="{BB962C8B-B14F-4D97-AF65-F5344CB8AC3E}">
        <p14:creationId xmlns:p14="http://schemas.microsoft.com/office/powerpoint/2010/main" val="302888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A4FDF-3ADE-BB3B-8909-57293EFE5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A61E6-BA44-E063-7BD8-B6C977CAA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D7B63-EE00-83C7-5273-AB7D1EFB3F0D}"/>
              </a:ext>
            </a:extLst>
          </p:cNvPr>
          <p:cNvSpPr>
            <a:spLocks noGrp="1"/>
          </p:cNvSpPr>
          <p:nvPr>
            <p:ph type="body" idx="1"/>
          </p:nvPr>
        </p:nvSpPr>
        <p:spPr/>
        <p:txBody>
          <a:bodyPr/>
          <a:lstStyle/>
          <a:p>
            <a:r>
              <a:rPr lang="en-US" dirty="0"/>
              <a:t>I created a table summarizing what we know from individual randomized trials compared to what we don’t know for cluster randomized trials. </a:t>
            </a:r>
          </a:p>
          <a:p>
            <a:endParaRPr lang="en-US" dirty="0"/>
          </a:p>
          <a:p>
            <a:r>
              <a:rPr lang="en-US" dirty="0"/>
              <a:t>Regarding individual randomized trials, we have a lot of existing guidance with papers and tutorials explaining when and how you should adjust for covariates. There are also practices for doing this and recommendations are updated regularly and are widely followed. </a:t>
            </a:r>
          </a:p>
          <a:p>
            <a:endParaRPr lang="en-US" dirty="0"/>
          </a:p>
          <a:p>
            <a:r>
              <a:rPr lang="en-US" dirty="0"/>
              <a:t>However, for cluster randomized trials, there’s much less guidance. We don’t have many reviews telling us what researchers are actually doing in practice and information regarding covariate adjustment is often unclear. And importantly, the last major review of covariate adjustment in cluster randomized trials was published before 2010, which means that evidence is OUTDATED.</a:t>
            </a:r>
          </a:p>
        </p:txBody>
      </p:sp>
      <p:sp>
        <p:nvSpPr>
          <p:cNvPr id="4" name="Slide Number Placeholder 3">
            <a:extLst>
              <a:ext uri="{FF2B5EF4-FFF2-40B4-BE49-F238E27FC236}">
                <a16:creationId xmlns:a16="http://schemas.microsoft.com/office/drawing/2014/main" id="{64C17633-E081-6C2D-CD32-ED960B8F7775}"/>
              </a:ext>
            </a:extLst>
          </p:cNvPr>
          <p:cNvSpPr>
            <a:spLocks noGrp="1"/>
          </p:cNvSpPr>
          <p:nvPr>
            <p:ph type="sldNum" sz="quarter" idx="5"/>
          </p:nvPr>
        </p:nvSpPr>
        <p:spPr/>
        <p:txBody>
          <a:bodyPr/>
          <a:lstStyle/>
          <a:p>
            <a:fld id="{D7735930-A2CC-4D1C-AB4A-CC5CA2631AF4}" type="slidenum">
              <a:rPr lang="en-US" smtClean="0"/>
              <a:t>6</a:t>
            </a:fld>
            <a:endParaRPr lang="en-US" dirty="0"/>
          </a:p>
        </p:txBody>
      </p:sp>
    </p:spTree>
    <p:extLst>
      <p:ext uri="{BB962C8B-B14F-4D97-AF65-F5344CB8AC3E}">
        <p14:creationId xmlns:p14="http://schemas.microsoft.com/office/powerpoint/2010/main" val="2213882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inspiration for our study comes from the </a:t>
            </a:r>
            <a:r>
              <a:rPr lang="en-US" dirty="0" err="1"/>
              <a:t>Bachpan</a:t>
            </a:r>
            <a:r>
              <a:rPr lang="en-US" dirty="0"/>
              <a:t> study, which was a cluster randomized trial conducted in rural Pakistan that discussed a peer-delivered psychosocial program delivered to mothers who were depressed during pregnancy and after birth. </a:t>
            </a:r>
          </a:p>
          <a:p>
            <a:endParaRPr lang="en-US" dirty="0"/>
          </a:p>
          <a:p>
            <a:r>
              <a:rPr lang="en-US" dirty="0"/>
              <a:t>A little bit about this study is that it followed these women and their children to see how both the mothers and kids were doing, especially seeing if depression symptoms rubbed off on their children.  </a:t>
            </a:r>
          </a:p>
          <a:p>
            <a:endParaRPr lang="en-US" dirty="0"/>
          </a:p>
          <a:p>
            <a:r>
              <a:rPr lang="en-US" dirty="0"/>
              <a:t>Additionally, this study motivated our work on covariate adjustment because in a trial like this, many things measured at baseline could influence the outcome and if you don’t account for those, you risk misinterpreting the effect of the intervention. So for example, some clusters may have more risk factors just by chance and that could affect both how depressed mothers are and how their children develop. </a:t>
            </a:r>
          </a:p>
          <a:p>
            <a:endParaRPr lang="en-US" dirty="0"/>
          </a:p>
          <a:p>
            <a:r>
              <a:rPr lang="en-US" dirty="0"/>
              <a:t>And this raises questions around covariate adjustment such as like what covariates are adjusted for in cluster trials regarding low- and middle income countries and do papers explain why they adjust for covariates? </a:t>
            </a:r>
          </a:p>
        </p:txBody>
      </p:sp>
      <p:sp>
        <p:nvSpPr>
          <p:cNvPr id="4" name="Slide Number Placeholder 3"/>
          <p:cNvSpPr>
            <a:spLocks noGrp="1"/>
          </p:cNvSpPr>
          <p:nvPr>
            <p:ph type="sldNum" sz="quarter" idx="5"/>
          </p:nvPr>
        </p:nvSpPr>
        <p:spPr/>
        <p:txBody>
          <a:bodyPr/>
          <a:lstStyle/>
          <a:p>
            <a:fld id="{D7735930-A2CC-4D1C-AB4A-CC5CA2631AF4}" type="slidenum">
              <a:rPr lang="en-US" smtClean="0"/>
              <a:t>7</a:t>
            </a:fld>
            <a:endParaRPr lang="en-US" dirty="0"/>
          </a:p>
        </p:txBody>
      </p:sp>
    </p:spTree>
    <p:extLst>
      <p:ext uri="{BB962C8B-B14F-4D97-AF65-F5344CB8AC3E}">
        <p14:creationId xmlns:p14="http://schemas.microsoft.com/office/powerpoint/2010/main" val="3626964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focusing on low- and middle-income countries for a few reasons. So first, low- and middle-income countries conduct a large number of community- and public-health based cluster randomized trials and these are places where interventions often happen at the community, school, or clinic level.</a:t>
            </a:r>
          </a:p>
          <a:p>
            <a:endParaRPr lang="en-US" dirty="0"/>
          </a:p>
          <a:p>
            <a:r>
              <a:rPr lang="en-US" dirty="0"/>
              <a:t>And across these low- and middle-income cluster trials, we see a lot of variation in the methods and how covariate adjustment is handled. So for instance, some trials could adjust for baseline variables, some don’t, and some don’t even explain their choices at all. So this raises the question of what are people actually doing in practice?</a:t>
            </a:r>
          </a:p>
          <a:p>
            <a:endParaRPr lang="en-US" dirty="0"/>
          </a:p>
          <a:p>
            <a:r>
              <a:rPr lang="en-US" dirty="0"/>
              <a:t>And lastly, previous reviews and papers don’t fully describe their analysis decisions so it’s often unclear which covariates were adjusted for and why they were included. So as a result, these gaps in reporting make it more difficult to evaluate the quality of the overall analyses that were done. </a:t>
            </a:r>
          </a:p>
        </p:txBody>
      </p:sp>
      <p:sp>
        <p:nvSpPr>
          <p:cNvPr id="4" name="Slide Number Placeholder 3"/>
          <p:cNvSpPr>
            <a:spLocks noGrp="1"/>
          </p:cNvSpPr>
          <p:nvPr>
            <p:ph type="sldNum" sz="quarter" idx="5"/>
          </p:nvPr>
        </p:nvSpPr>
        <p:spPr/>
        <p:txBody>
          <a:bodyPr/>
          <a:lstStyle/>
          <a:p>
            <a:fld id="{D7735930-A2CC-4D1C-AB4A-CC5CA2631AF4}" type="slidenum">
              <a:rPr lang="en-US" smtClean="0"/>
              <a:t>8</a:t>
            </a:fld>
            <a:endParaRPr lang="en-US" dirty="0"/>
          </a:p>
        </p:txBody>
      </p:sp>
    </p:spTree>
    <p:extLst>
      <p:ext uri="{BB962C8B-B14F-4D97-AF65-F5344CB8AC3E}">
        <p14:creationId xmlns:p14="http://schemas.microsoft.com/office/powerpoint/2010/main" val="3289153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we’re doing this review because the last covariate adjustment in cluster randomized trials review was done 10 or more so years ago and that review included articles published before 2010, specifically from 2000-2008, so it doesn’t reflect how modern trials are being analyzed today. </a:t>
            </a:r>
          </a:p>
          <a:p>
            <a:endParaRPr lang="en-US" dirty="0"/>
          </a:p>
          <a:p>
            <a:r>
              <a:rPr lang="en-US" dirty="0"/>
              <a:t>And by reviewing more recent trials, we can get an updated picture of how covariate adjustment is being used and these findings can also help inform future guidance or recommendations regarding covariate adjustment in cluster randomized trials. </a:t>
            </a:r>
          </a:p>
        </p:txBody>
      </p:sp>
      <p:sp>
        <p:nvSpPr>
          <p:cNvPr id="4" name="Slide Number Placeholder 3"/>
          <p:cNvSpPr>
            <a:spLocks noGrp="1"/>
          </p:cNvSpPr>
          <p:nvPr>
            <p:ph type="sldNum" sz="quarter" idx="5"/>
          </p:nvPr>
        </p:nvSpPr>
        <p:spPr/>
        <p:txBody>
          <a:bodyPr/>
          <a:lstStyle/>
          <a:p>
            <a:fld id="{D7735930-A2CC-4D1C-AB4A-CC5CA2631AF4}" type="slidenum">
              <a:rPr lang="en-US" smtClean="0"/>
              <a:t>9</a:t>
            </a:fld>
            <a:endParaRPr lang="en-US" dirty="0"/>
          </a:p>
        </p:txBody>
      </p:sp>
    </p:spTree>
    <p:extLst>
      <p:ext uri="{BB962C8B-B14F-4D97-AF65-F5344CB8AC3E}">
        <p14:creationId xmlns:p14="http://schemas.microsoft.com/office/powerpoint/2010/main" val="4171301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onto the Procedures &amp; Methods, we’ll be going over anything regarding data and the data extraction process…</a:t>
            </a:r>
          </a:p>
        </p:txBody>
      </p:sp>
      <p:sp>
        <p:nvSpPr>
          <p:cNvPr id="4" name="Slide Number Placeholder 3"/>
          <p:cNvSpPr>
            <a:spLocks noGrp="1"/>
          </p:cNvSpPr>
          <p:nvPr>
            <p:ph type="sldNum" sz="quarter" idx="5"/>
          </p:nvPr>
        </p:nvSpPr>
        <p:spPr/>
        <p:txBody>
          <a:bodyPr/>
          <a:lstStyle/>
          <a:p>
            <a:fld id="{D7735930-A2CC-4D1C-AB4A-CC5CA2631AF4}" type="slidenum">
              <a:rPr lang="en-US" smtClean="0"/>
              <a:t>10</a:t>
            </a:fld>
            <a:endParaRPr lang="en-US" dirty="0"/>
          </a:p>
        </p:txBody>
      </p:sp>
    </p:spTree>
    <p:extLst>
      <p:ext uri="{BB962C8B-B14F-4D97-AF65-F5344CB8AC3E}">
        <p14:creationId xmlns:p14="http://schemas.microsoft.com/office/powerpoint/2010/main" val="4145263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this review, we’re using 300 papers published from 2017-2022 and all of these papers are parallel-arm cluster randomized trials conducted in low- and middle-income countries so this gives us a more up-to-date look at recent practices. </a:t>
            </a:r>
          </a:p>
          <a:p>
            <a:endParaRPr lang="en-US" dirty="0"/>
          </a:p>
          <a:p>
            <a:r>
              <a:rPr lang="en-US" dirty="0"/>
              <a:t>These papers were from previous reviews. The first review was an ethics review of 800 cluster randomized trials, and this review basically collected screening information about the trials such as basic study characteristics. So we essentially already have a well-organized pool of cluster trials to work with. </a:t>
            </a:r>
          </a:p>
          <a:p>
            <a:endParaRPr lang="en-US" dirty="0"/>
          </a:p>
          <a:p>
            <a:r>
              <a:rPr lang="en-US" dirty="0"/>
              <a:t>And then from those 800 papers, a random subset of 300 was used for a second review that looked at randomization procedures in cluster trials. And overall, we decided that it was just convenient to use the same 300 papers for the review we’re working on now. </a:t>
            </a:r>
          </a:p>
        </p:txBody>
      </p:sp>
      <p:sp>
        <p:nvSpPr>
          <p:cNvPr id="4" name="Slide Number Placeholder 3"/>
          <p:cNvSpPr>
            <a:spLocks noGrp="1"/>
          </p:cNvSpPr>
          <p:nvPr>
            <p:ph type="sldNum" sz="quarter" idx="5"/>
          </p:nvPr>
        </p:nvSpPr>
        <p:spPr/>
        <p:txBody>
          <a:bodyPr/>
          <a:lstStyle/>
          <a:p>
            <a:fld id="{D7735930-A2CC-4D1C-AB4A-CC5CA2631AF4}" type="slidenum">
              <a:rPr lang="en-US" smtClean="0"/>
              <a:t>11</a:t>
            </a:fld>
            <a:endParaRPr lang="en-US" dirty="0"/>
          </a:p>
        </p:txBody>
      </p:sp>
    </p:spTree>
    <p:extLst>
      <p:ext uri="{BB962C8B-B14F-4D97-AF65-F5344CB8AC3E}">
        <p14:creationId xmlns:p14="http://schemas.microsoft.com/office/powerpoint/2010/main" val="3286995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we’re extracting data from these papers is through </a:t>
            </a:r>
            <a:r>
              <a:rPr lang="en-US" dirty="0" err="1"/>
              <a:t>REDCap</a:t>
            </a:r>
            <a:r>
              <a:rPr lang="en-US" dirty="0"/>
              <a:t>. For those of you who don’t know what </a:t>
            </a:r>
            <a:r>
              <a:rPr lang="en-US" dirty="0" err="1"/>
              <a:t>REDCap</a:t>
            </a:r>
            <a:r>
              <a:rPr lang="en-US" dirty="0"/>
              <a:t> is, </a:t>
            </a:r>
            <a:r>
              <a:rPr lang="en-US" dirty="0" err="1"/>
              <a:t>REDCap</a:t>
            </a:r>
            <a:r>
              <a:rPr lang="en-US" dirty="0"/>
              <a:t> is an online web-based application that’s meant for research study surveys. </a:t>
            </a:r>
          </a:p>
          <a:p>
            <a:endParaRPr lang="en-US" dirty="0"/>
          </a:p>
          <a:p>
            <a:r>
              <a:rPr lang="en-US" dirty="0"/>
              <a:t>The survey form includes standard basic questions such as the total # of participants enrolled in the trial, the type of study so think of study designs such as cohort, cross-sectional, repeated cross-sectional, etc. and what the primary outcomes were and how many there were. There were also more analysis-like questions in regards to covariate adjustment such as how covariates were selected and if there were any distributional summaries of the covariates. </a:t>
            </a:r>
          </a:p>
          <a:p>
            <a:endParaRPr lang="en-US" dirty="0"/>
          </a:p>
          <a:p>
            <a:r>
              <a:rPr lang="en-US" dirty="0"/>
              <a:t>I also provided a screenshot of how the form looks once you open it. So it starts with the article ID and a drop-down bar that signifies which reviewer is completing this data entry form. </a:t>
            </a:r>
          </a:p>
        </p:txBody>
      </p:sp>
      <p:sp>
        <p:nvSpPr>
          <p:cNvPr id="4" name="Slide Number Placeholder 3"/>
          <p:cNvSpPr>
            <a:spLocks noGrp="1"/>
          </p:cNvSpPr>
          <p:nvPr>
            <p:ph type="sldNum" sz="quarter" idx="5"/>
          </p:nvPr>
        </p:nvSpPr>
        <p:spPr/>
        <p:txBody>
          <a:bodyPr/>
          <a:lstStyle/>
          <a:p>
            <a:fld id="{D7735930-A2CC-4D1C-AB4A-CC5CA2631AF4}" type="slidenum">
              <a:rPr lang="en-US" smtClean="0"/>
              <a:t>12</a:t>
            </a:fld>
            <a:endParaRPr lang="en-US" dirty="0"/>
          </a:p>
        </p:txBody>
      </p:sp>
    </p:spTree>
    <p:extLst>
      <p:ext uri="{BB962C8B-B14F-4D97-AF65-F5344CB8AC3E}">
        <p14:creationId xmlns:p14="http://schemas.microsoft.com/office/powerpoint/2010/main" val="962676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3FEF8-3312-FFEF-E59D-875103C29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CD8B0-7A2E-1450-83FF-D8699D8AF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104D3-4FEA-912A-0700-FEDDC10D0064}"/>
              </a:ext>
            </a:extLst>
          </p:cNvPr>
          <p:cNvSpPr>
            <a:spLocks noGrp="1"/>
          </p:cNvSpPr>
          <p:nvPr>
            <p:ph type="body" idx="1"/>
          </p:nvPr>
        </p:nvSpPr>
        <p:spPr/>
        <p:txBody>
          <a:bodyPr/>
          <a:lstStyle/>
          <a:p>
            <a:r>
              <a:rPr lang="en-US" dirty="0"/>
              <a:t>The form does go through standard basic questions about the studies, but I did want to include screenshots of questions related to the covariate adjustment section of the form. </a:t>
            </a:r>
          </a:p>
          <a:p>
            <a:endParaRPr lang="en-US" dirty="0"/>
          </a:p>
          <a:p>
            <a:r>
              <a:rPr lang="en-US" dirty="0" err="1"/>
              <a:t>REDCap</a:t>
            </a:r>
            <a:r>
              <a:rPr lang="en-US" dirty="0"/>
              <a:t> also follows a true/false logic so for instance, on the left, if you select ‘Yes’ for Question 32, it will bring up more specific follow-up questions related to those covariates that were used such as how many covariates were there and what type of covariates were used. </a:t>
            </a:r>
          </a:p>
          <a:p>
            <a:endParaRPr lang="en-US" dirty="0"/>
          </a:p>
          <a:p>
            <a:r>
              <a:rPr lang="en-US" dirty="0"/>
              <a:t>I also included a screenshot on the right that shows if you selected ‘No’ for Question 32, it skips through Questions 33-41 and automatically goes to Question 42, which states to specify the rationale for not adjusting for covariates. </a:t>
            </a:r>
          </a:p>
        </p:txBody>
      </p:sp>
      <p:sp>
        <p:nvSpPr>
          <p:cNvPr id="4" name="Slide Number Placeholder 3">
            <a:extLst>
              <a:ext uri="{FF2B5EF4-FFF2-40B4-BE49-F238E27FC236}">
                <a16:creationId xmlns:a16="http://schemas.microsoft.com/office/drawing/2014/main" id="{943C1918-BBBB-3612-1193-F1AF3E09BF81}"/>
              </a:ext>
            </a:extLst>
          </p:cNvPr>
          <p:cNvSpPr>
            <a:spLocks noGrp="1"/>
          </p:cNvSpPr>
          <p:nvPr>
            <p:ph type="sldNum" sz="quarter" idx="5"/>
          </p:nvPr>
        </p:nvSpPr>
        <p:spPr/>
        <p:txBody>
          <a:bodyPr/>
          <a:lstStyle/>
          <a:p>
            <a:fld id="{D7735930-A2CC-4D1C-AB4A-CC5CA2631AF4}" type="slidenum">
              <a:rPr lang="en-US" smtClean="0"/>
              <a:t>13</a:t>
            </a:fld>
            <a:endParaRPr lang="en-US" dirty="0"/>
          </a:p>
        </p:txBody>
      </p:sp>
    </p:spTree>
    <p:extLst>
      <p:ext uri="{BB962C8B-B14F-4D97-AF65-F5344CB8AC3E}">
        <p14:creationId xmlns:p14="http://schemas.microsoft.com/office/powerpoint/2010/main" val="3097678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onto the data extraction process, there are 2 reviewers per article and there is a random assignment of reviewer pairs and articles. I do want to note that the assignment of reviewer pairs is technically not entirely randomly just because we wanted to make sure there was one senior reviewer and one junior reviewer per pair. </a:t>
            </a:r>
          </a:p>
          <a:p>
            <a:endParaRPr lang="en-US" dirty="0"/>
          </a:p>
          <a:p>
            <a:r>
              <a:rPr lang="en-US" dirty="0"/>
              <a:t>And to define what a senior reviewer is, it’s basically someone who has more senior-level experience working with cluster randomized trials whereas, a junior reviewer is someone who has little to no experience working with cluster randomized trials. </a:t>
            </a:r>
          </a:p>
          <a:p>
            <a:endParaRPr lang="en-US" dirty="0"/>
          </a:p>
          <a:p>
            <a:r>
              <a:rPr lang="en-US" dirty="0"/>
              <a:t>So after each person does their individual article data extraction, each pair will have a reconciliation meeting discussing and resolving any discrepancies based on the answers they put for a question from the data extraction form. And by the end of the meeting, the reviewers will come to a final decision for the specific questions that had discrepancies. </a:t>
            </a:r>
          </a:p>
        </p:txBody>
      </p:sp>
      <p:sp>
        <p:nvSpPr>
          <p:cNvPr id="4" name="Slide Number Placeholder 3"/>
          <p:cNvSpPr>
            <a:spLocks noGrp="1"/>
          </p:cNvSpPr>
          <p:nvPr>
            <p:ph type="sldNum" sz="quarter" idx="5"/>
          </p:nvPr>
        </p:nvSpPr>
        <p:spPr/>
        <p:txBody>
          <a:bodyPr/>
          <a:lstStyle/>
          <a:p>
            <a:fld id="{D7735930-A2CC-4D1C-AB4A-CC5CA2631AF4}" type="slidenum">
              <a:rPr lang="en-US" smtClean="0"/>
              <a:t>14</a:t>
            </a:fld>
            <a:endParaRPr lang="en-US" dirty="0"/>
          </a:p>
        </p:txBody>
      </p:sp>
    </p:spTree>
    <p:extLst>
      <p:ext uri="{BB962C8B-B14F-4D97-AF65-F5344CB8AC3E}">
        <p14:creationId xmlns:p14="http://schemas.microsoft.com/office/powerpoint/2010/main" val="2848577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wanted to provide screenshots of how we organized the articles per reviewer pair and where we organized the articles to download and extract data from. </a:t>
            </a:r>
          </a:p>
          <a:p>
            <a:endParaRPr lang="en-US" dirty="0"/>
          </a:p>
          <a:p>
            <a:r>
              <a:rPr lang="en-US" dirty="0"/>
              <a:t>So in the top screenshot, we basically had Excel spreadsheets for each week with the reviewer pair names. The first reviewer name is the senior reviewer and the second reviewer name is the junior reviewer and the 10 random articles assigned to each reviewer pair follows right after. </a:t>
            </a:r>
          </a:p>
          <a:p>
            <a:endParaRPr lang="en-US" dirty="0"/>
          </a:p>
          <a:p>
            <a:r>
              <a:rPr lang="en-US" dirty="0"/>
              <a:t>And all these numbers represent the article ID. In the bottom screenshot, we organized the 300 articles on a platform called </a:t>
            </a:r>
            <a:r>
              <a:rPr lang="en-US" dirty="0" err="1"/>
              <a:t>AirTable</a:t>
            </a:r>
            <a:r>
              <a:rPr lang="en-US" dirty="0"/>
              <a:t>. And for those of you who don’t know what </a:t>
            </a:r>
            <a:r>
              <a:rPr lang="en-US" dirty="0" err="1"/>
              <a:t>AirTable</a:t>
            </a:r>
            <a:r>
              <a:rPr lang="en-US" dirty="0"/>
              <a:t> is, it’s basically just an online organization and management tool. </a:t>
            </a:r>
          </a:p>
          <a:p>
            <a:endParaRPr lang="en-US" dirty="0"/>
          </a:p>
          <a:p>
            <a:r>
              <a:rPr lang="en-US" dirty="0"/>
              <a:t>So to walk you through the data extraction process, if you were assigned to the article with the ID of 1435, you would scroll to that article on </a:t>
            </a:r>
            <a:r>
              <a:rPr lang="en-US" dirty="0" err="1"/>
              <a:t>AirTable</a:t>
            </a:r>
            <a:r>
              <a:rPr lang="en-US" dirty="0"/>
              <a:t> and then download the main paper and protocol paper and as you go through the questions on the </a:t>
            </a:r>
            <a:r>
              <a:rPr lang="en-US" dirty="0" err="1"/>
              <a:t>REDcap</a:t>
            </a:r>
            <a:r>
              <a:rPr lang="en-US" dirty="0"/>
              <a:t> form from earlier, you fill out the form with the answers you find from the main paper and or protocol paper. </a:t>
            </a:r>
          </a:p>
        </p:txBody>
      </p:sp>
      <p:sp>
        <p:nvSpPr>
          <p:cNvPr id="4" name="Slide Number Placeholder 3"/>
          <p:cNvSpPr>
            <a:spLocks noGrp="1"/>
          </p:cNvSpPr>
          <p:nvPr>
            <p:ph type="sldNum" sz="quarter" idx="5"/>
          </p:nvPr>
        </p:nvSpPr>
        <p:spPr/>
        <p:txBody>
          <a:bodyPr/>
          <a:lstStyle/>
          <a:p>
            <a:fld id="{D7735930-A2CC-4D1C-AB4A-CC5CA2631AF4}" type="slidenum">
              <a:rPr lang="en-US" smtClean="0"/>
              <a:t>15</a:t>
            </a:fld>
            <a:endParaRPr lang="en-US" dirty="0"/>
          </a:p>
        </p:txBody>
      </p:sp>
    </p:spTree>
    <p:extLst>
      <p:ext uri="{BB962C8B-B14F-4D97-AF65-F5344CB8AC3E}">
        <p14:creationId xmlns:p14="http://schemas.microsoft.com/office/powerpoint/2010/main" val="2968628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lastly, we’ll be going over the results thus far as well as preparing for the next steps of this review…</a:t>
            </a:r>
          </a:p>
        </p:txBody>
      </p:sp>
      <p:sp>
        <p:nvSpPr>
          <p:cNvPr id="4" name="Slide Number Placeholder 3"/>
          <p:cNvSpPr>
            <a:spLocks noGrp="1"/>
          </p:cNvSpPr>
          <p:nvPr>
            <p:ph type="sldNum" sz="quarter" idx="5"/>
          </p:nvPr>
        </p:nvSpPr>
        <p:spPr/>
        <p:txBody>
          <a:bodyPr/>
          <a:lstStyle/>
          <a:p>
            <a:fld id="{D7735930-A2CC-4D1C-AB4A-CC5CA2631AF4}" type="slidenum">
              <a:rPr lang="en-US" smtClean="0"/>
              <a:t>16</a:t>
            </a:fld>
            <a:endParaRPr lang="en-US" dirty="0"/>
          </a:p>
        </p:txBody>
      </p:sp>
    </p:spTree>
    <p:extLst>
      <p:ext uri="{BB962C8B-B14F-4D97-AF65-F5344CB8AC3E}">
        <p14:creationId xmlns:p14="http://schemas.microsoft.com/office/powerpoint/2010/main" val="20642048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results, I want to note that we’re towards the end of article data extraction and reconciliation so the process is still ongoing. I don’t have access to the data yet but my supervisor, John, had a good idea of including a screenshot of what the final Table 1 could look like just to get a general idea. </a:t>
            </a:r>
          </a:p>
          <a:p>
            <a:endParaRPr lang="en-US" dirty="0"/>
          </a:p>
          <a:p>
            <a:r>
              <a:rPr lang="en-US" dirty="0"/>
              <a:t>With the results so far, we’ve finished extracting data from 182 out of 300 articles, which is more than half the articles. And to get a somewhat general idea of what the final Table 1 could look like, we included a random question, which in this case is Question 32. And we can see that about 59% of articles extracted so far used covariates in their primary analyses and about 39% of articles extracted so far did not use any covariates.</a:t>
            </a:r>
          </a:p>
          <a:p>
            <a:endParaRPr lang="en-US" dirty="0"/>
          </a:p>
          <a:p>
            <a:r>
              <a:rPr lang="en-US" dirty="0"/>
              <a:t>And I would say that it’s good that a big percentage of articles extracted so far included covariates in their primary analysis because as mentioned in previous slides, if we enter ‘Yes’ to Question 32, it will give us several follow-up questions and specifics on how covariate adjustment was handled in the trials.</a:t>
            </a:r>
          </a:p>
        </p:txBody>
      </p:sp>
      <p:sp>
        <p:nvSpPr>
          <p:cNvPr id="4" name="Slide Number Placeholder 3"/>
          <p:cNvSpPr>
            <a:spLocks noGrp="1"/>
          </p:cNvSpPr>
          <p:nvPr>
            <p:ph type="sldNum" sz="quarter" idx="5"/>
          </p:nvPr>
        </p:nvSpPr>
        <p:spPr/>
        <p:txBody>
          <a:bodyPr/>
          <a:lstStyle/>
          <a:p>
            <a:fld id="{D7735930-A2CC-4D1C-AB4A-CC5CA2631AF4}" type="slidenum">
              <a:rPr lang="en-US" smtClean="0"/>
              <a:t>17</a:t>
            </a:fld>
            <a:endParaRPr lang="en-US" dirty="0"/>
          </a:p>
        </p:txBody>
      </p:sp>
    </p:spTree>
    <p:extLst>
      <p:ext uri="{BB962C8B-B14F-4D97-AF65-F5344CB8AC3E}">
        <p14:creationId xmlns:p14="http://schemas.microsoft.com/office/powerpoint/2010/main" val="3959443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Regarding the next steps, we’re finishing up the article data extraction and reconciliation process. Once the extraction and reconciliation is finished, merging and cleaning the data is the next step, then creating summary tables. And with this, we can identify patterns or trends so for example, like which covariates are most common and how often the authors gave a rationale for covariate adjustment. And then the final step will be drafting a manuscript. So once we have a sense of the major findings, we’ll be thinking carefully about how to frame them in writing.</a:t>
            </a:r>
          </a:p>
        </p:txBody>
      </p:sp>
      <p:sp>
        <p:nvSpPr>
          <p:cNvPr id="4" name="Slide Number Placeholder 3"/>
          <p:cNvSpPr>
            <a:spLocks noGrp="1"/>
          </p:cNvSpPr>
          <p:nvPr>
            <p:ph type="sldNum" sz="quarter" idx="5"/>
          </p:nvPr>
        </p:nvSpPr>
        <p:spPr/>
        <p:txBody>
          <a:bodyPr/>
          <a:lstStyle/>
          <a:p>
            <a:fld id="{D7735930-A2CC-4D1C-AB4A-CC5CA2631AF4}" type="slidenum">
              <a:rPr lang="en-US" smtClean="0"/>
              <a:t>18</a:t>
            </a:fld>
            <a:endParaRPr lang="en-US" dirty="0"/>
          </a:p>
        </p:txBody>
      </p:sp>
    </p:spTree>
    <p:extLst>
      <p:ext uri="{BB962C8B-B14F-4D97-AF65-F5344CB8AC3E}">
        <p14:creationId xmlns:p14="http://schemas.microsoft.com/office/powerpoint/2010/main" val="3367085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735930-A2CC-4D1C-AB4A-CC5CA2631AF4}" type="slidenum">
              <a:rPr lang="en-US" smtClean="0"/>
              <a:t>19</a:t>
            </a:fld>
            <a:endParaRPr lang="en-US" dirty="0"/>
          </a:p>
        </p:txBody>
      </p:sp>
    </p:spTree>
    <p:extLst>
      <p:ext uri="{BB962C8B-B14F-4D97-AF65-F5344CB8AC3E}">
        <p14:creationId xmlns:p14="http://schemas.microsoft.com/office/powerpoint/2010/main" val="38579045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concludes the end to my presentation. I also want to give a special thanks to my supervisor, John, who has helped guide me throughout this project. </a:t>
            </a:r>
          </a:p>
          <a:p>
            <a:endParaRPr lang="en-US" dirty="0"/>
          </a:p>
          <a:p>
            <a:r>
              <a:rPr lang="en-US" dirty="0"/>
              <a:t>And thank you everyone for listening! If you have any questions, I’d be happy to answer them now.</a:t>
            </a:r>
          </a:p>
        </p:txBody>
      </p:sp>
      <p:sp>
        <p:nvSpPr>
          <p:cNvPr id="4" name="Slide Number Placeholder 3"/>
          <p:cNvSpPr>
            <a:spLocks noGrp="1"/>
          </p:cNvSpPr>
          <p:nvPr>
            <p:ph type="sldNum" sz="quarter" idx="5"/>
          </p:nvPr>
        </p:nvSpPr>
        <p:spPr/>
        <p:txBody>
          <a:bodyPr/>
          <a:lstStyle/>
          <a:p>
            <a:fld id="{D7735930-A2CC-4D1C-AB4A-CC5CA2631AF4}" type="slidenum">
              <a:rPr lang="en-US" smtClean="0"/>
              <a:t>20</a:t>
            </a:fld>
            <a:endParaRPr lang="en-US" dirty="0"/>
          </a:p>
        </p:txBody>
      </p:sp>
    </p:spTree>
    <p:extLst>
      <p:ext uri="{BB962C8B-B14F-4D97-AF65-F5344CB8AC3E}">
        <p14:creationId xmlns:p14="http://schemas.microsoft.com/office/powerpoint/2010/main" val="16075354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29893DF-80C0-49C6-ABCA-CC0C0174483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5793"/>
          <a:stretch/>
        </p:blipFill>
        <p:spPr>
          <a:xfrm>
            <a:off x="-6096" y="0"/>
            <a:ext cx="12198096" cy="6858000"/>
          </a:xfrm>
          <a:prstGeom prst="rect">
            <a:avLst/>
          </a:prstGeom>
        </p:spPr>
      </p:pic>
      <p:pic>
        <p:nvPicPr>
          <p:cNvPr id="6" name="Picture 5">
            <a:extLst>
              <a:ext uri="{FF2B5EF4-FFF2-40B4-BE49-F238E27FC236}">
                <a16:creationId xmlns:a16="http://schemas.microsoft.com/office/drawing/2014/main" id="{DC6D6D9E-DBA8-4D51-A37A-F3CB6E3298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2000" y="6248400"/>
            <a:ext cx="4389122" cy="548640"/>
          </a:xfrm>
          <a:prstGeom prst="rect">
            <a:avLst/>
          </a:prstGeom>
          <a:effectLst>
            <a:outerShdw blurRad="50800" dist="38100" dir="2700000" algn="tl" rotWithShape="0">
              <a:prstClr val="black">
                <a:alpha val="40000"/>
              </a:prstClr>
            </a:outerShdw>
          </a:effectLst>
        </p:spPr>
      </p:pic>
      <p:cxnSp>
        <p:nvCxnSpPr>
          <p:cNvPr id="9" name="Straight Connector 8">
            <a:extLst>
              <a:ext uri="{FF2B5EF4-FFF2-40B4-BE49-F238E27FC236}">
                <a16:creationId xmlns:a16="http://schemas.microsoft.com/office/drawing/2014/main" id="{EC40372C-5332-42EE-842B-6C87E9824AF6}"/>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49C8CCF-445F-4E69-B2F9-FCF545E0B979}"/>
              </a:ext>
            </a:extLst>
          </p:cNvPr>
          <p:cNvSpPr/>
          <p:nvPr userDrawn="1"/>
        </p:nvSpPr>
        <p:spPr>
          <a:xfrm>
            <a:off x="0" y="0"/>
            <a:ext cx="4267200" cy="335279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9">
            <a:extLst>
              <a:ext uri="{FF2B5EF4-FFF2-40B4-BE49-F238E27FC236}">
                <a16:creationId xmlns:a16="http://schemas.microsoft.com/office/drawing/2014/main" id="{61D3FCB6-E7DD-4843-A879-F415C45EEFBE}"/>
              </a:ext>
            </a:extLst>
          </p:cNvPr>
          <p:cNvSpPr>
            <a:spLocks noGrp="1"/>
          </p:cNvSpPr>
          <p:nvPr>
            <p:ph type="body" sz="quarter" idx="10" hasCustomPrompt="1"/>
          </p:nvPr>
        </p:nvSpPr>
        <p:spPr>
          <a:xfrm>
            <a:off x="838200" y="671586"/>
            <a:ext cx="3429000" cy="990600"/>
          </a:xfrm>
          <a:prstGeom prst="rect">
            <a:avLst/>
          </a:prstGeom>
        </p:spPr>
        <p:txBody>
          <a:bodyPr lIns="0" tIns="0" rIns="0" bIns="0" anchor="t" anchorCtr="0"/>
          <a:lstStyle>
            <a:lvl1pPr marL="0" marR="0" indent="0" algn="l" defTabSz="914400" rtl="0" eaLnBrk="1" fontAlgn="auto" latinLnBrk="0" hangingPunct="1">
              <a:lnSpc>
                <a:spcPts val="3200"/>
              </a:lnSpc>
              <a:spcBef>
                <a:spcPts val="0"/>
              </a:spcBef>
              <a:spcAft>
                <a:spcPts val="0"/>
              </a:spcAft>
              <a:buClrTx/>
              <a:buSzTx/>
              <a:buFontTx/>
              <a:buNone/>
              <a:tabLst/>
              <a:defRPr sz="28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a:p>
            <a:pPr lvl="0"/>
            <a:r>
              <a:rPr lang="en-US" dirty="0"/>
              <a:t>Click to edit title</a:t>
            </a:r>
          </a:p>
        </p:txBody>
      </p:sp>
      <p:sp>
        <p:nvSpPr>
          <p:cNvPr id="12" name="Text Placeholder 9">
            <a:extLst>
              <a:ext uri="{FF2B5EF4-FFF2-40B4-BE49-F238E27FC236}">
                <a16:creationId xmlns:a16="http://schemas.microsoft.com/office/drawing/2014/main" id="{C9900847-8310-4C10-9F27-E457BB1CE2D7}"/>
              </a:ext>
            </a:extLst>
          </p:cNvPr>
          <p:cNvSpPr>
            <a:spLocks noGrp="1"/>
          </p:cNvSpPr>
          <p:nvPr>
            <p:ph type="body" sz="quarter" idx="11" hasCustomPrompt="1"/>
          </p:nvPr>
        </p:nvSpPr>
        <p:spPr>
          <a:xfrm>
            <a:off x="838200" y="2855627"/>
            <a:ext cx="3429000" cy="594090"/>
          </a:xfrm>
          <a:prstGeom prst="rect">
            <a:avLst/>
          </a:prstGeom>
        </p:spPr>
        <p:txBody>
          <a:bodyPr lIns="0" tIns="0" rIns="0" bIns="0" anchor="t" anchorCtr="0"/>
          <a:lstStyle>
            <a:lvl1pPr marL="0" marR="0" indent="0" algn="l" defTabSz="914400" rtl="0" eaLnBrk="1" fontAlgn="auto" latinLnBrk="0" hangingPunct="1">
              <a:lnSpc>
                <a:spcPts val="3200"/>
              </a:lnSpc>
              <a:spcBef>
                <a:spcPts val="0"/>
              </a:spcBef>
              <a:spcAft>
                <a:spcPts val="0"/>
              </a:spcAft>
              <a:buClrTx/>
              <a:buSzTx/>
              <a:buFontTx/>
              <a:buNone/>
              <a:tabLst/>
              <a:defRPr sz="2000">
                <a:solidFill>
                  <a:srgbClr val="FFC000"/>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p:txBody>
      </p:sp>
      <p:sp>
        <p:nvSpPr>
          <p:cNvPr id="4" name="Rectangle 3">
            <a:extLst>
              <a:ext uri="{FF2B5EF4-FFF2-40B4-BE49-F238E27FC236}">
                <a16:creationId xmlns:a16="http://schemas.microsoft.com/office/drawing/2014/main" id="{A579AD19-0CA9-4586-BEBB-75763B80C0AC}"/>
              </a:ext>
            </a:extLst>
          </p:cNvPr>
          <p:cNvSpPr/>
          <p:nvPr userDrawn="1"/>
        </p:nvSpPr>
        <p:spPr>
          <a:xfrm>
            <a:off x="0" y="1828800"/>
            <a:ext cx="8991600" cy="9144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2ABF594-0D26-474D-AB13-FB26A6532991}"/>
              </a:ext>
            </a:extLst>
          </p:cNvPr>
          <p:cNvSpPr>
            <a:spLocks noGrp="1"/>
          </p:cNvSpPr>
          <p:nvPr>
            <p:ph type="title" hasCustomPrompt="1"/>
          </p:nvPr>
        </p:nvSpPr>
        <p:spPr>
          <a:xfrm>
            <a:off x="838200" y="1828798"/>
            <a:ext cx="7391400" cy="914400"/>
          </a:xfrm>
          <a:prstGeom prst="rect">
            <a:avLst/>
          </a:prstGeom>
        </p:spPr>
        <p:txBody>
          <a:bodyPr lIns="0" rIns="0" anchor="ctr"/>
          <a:lstStyle>
            <a:lvl1pPr algn="l">
              <a:defRPr>
                <a:solidFill>
                  <a:schemeClr val="bg1"/>
                </a:solidFill>
                <a:latin typeface="Arial" panose="020B0604020202020204" pitchFamily="34" charset="0"/>
                <a:cs typeface="Arial" panose="020B0604020202020204" pitchFamily="34" charset="0"/>
              </a:defRPr>
            </a:lvl1pPr>
          </a:lstStyle>
          <a:p>
            <a:r>
              <a:rPr lang="en-US" dirty="0"/>
              <a:t>Click to edit title</a:t>
            </a:r>
          </a:p>
        </p:txBody>
      </p:sp>
    </p:spTree>
    <p:extLst>
      <p:ext uri="{BB962C8B-B14F-4D97-AF65-F5344CB8AC3E}">
        <p14:creationId xmlns:p14="http://schemas.microsoft.com/office/powerpoint/2010/main" val="3270924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29893DF-80C0-49C6-ABCA-CC0C0174483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792"/>
          <a:stretch/>
        </p:blipFill>
        <p:spPr>
          <a:xfrm>
            <a:off x="0" y="0"/>
            <a:ext cx="12198096" cy="6858000"/>
          </a:xfrm>
          <a:prstGeom prst="rect">
            <a:avLst/>
          </a:prstGeom>
        </p:spPr>
      </p:pic>
      <p:pic>
        <p:nvPicPr>
          <p:cNvPr id="6" name="Picture 5">
            <a:extLst>
              <a:ext uri="{FF2B5EF4-FFF2-40B4-BE49-F238E27FC236}">
                <a16:creationId xmlns:a16="http://schemas.microsoft.com/office/drawing/2014/main" id="{DC6D6D9E-DBA8-4D51-A37A-F3CB6E3298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43800" y="304800"/>
            <a:ext cx="4389122" cy="548640"/>
          </a:xfrm>
          <a:prstGeom prst="rect">
            <a:avLst/>
          </a:prstGeom>
          <a:effectLst>
            <a:outerShdw blurRad="50800" dist="38100" dir="2700000" algn="tl" rotWithShape="0">
              <a:prstClr val="black">
                <a:alpha val="40000"/>
              </a:prstClr>
            </a:outerShdw>
          </a:effectLst>
        </p:spPr>
      </p:pic>
      <p:cxnSp>
        <p:nvCxnSpPr>
          <p:cNvPr id="9" name="Straight Connector 8">
            <a:extLst>
              <a:ext uri="{FF2B5EF4-FFF2-40B4-BE49-F238E27FC236}">
                <a16:creationId xmlns:a16="http://schemas.microsoft.com/office/drawing/2014/main" id="{EC40372C-5332-42EE-842B-6C87E9824AF6}"/>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49C8CCF-445F-4E69-B2F9-FCF545E0B979}"/>
              </a:ext>
            </a:extLst>
          </p:cNvPr>
          <p:cNvSpPr/>
          <p:nvPr userDrawn="1"/>
        </p:nvSpPr>
        <p:spPr>
          <a:xfrm>
            <a:off x="0" y="0"/>
            <a:ext cx="4267200" cy="3352794"/>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9">
            <a:extLst>
              <a:ext uri="{FF2B5EF4-FFF2-40B4-BE49-F238E27FC236}">
                <a16:creationId xmlns:a16="http://schemas.microsoft.com/office/drawing/2014/main" id="{61D3FCB6-E7DD-4843-A879-F415C45EEFBE}"/>
              </a:ext>
            </a:extLst>
          </p:cNvPr>
          <p:cNvSpPr>
            <a:spLocks noGrp="1"/>
          </p:cNvSpPr>
          <p:nvPr>
            <p:ph type="body" sz="quarter" idx="10" hasCustomPrompt="1"/>
          </p:nvPr>
        </p:nvSpPr>
        <p:spPr>
          <a:xfrm>
            <a:off x="838200" y="671586"/>
            <a:ext cx="3429000" cy="990600"/>
          </a:xfrm>
          <a:prstGeom prst="rect">
            <a:avLst/>
          </a:prstGeom>
        </p:spPr>
        <p:txBody>
          <a:bodyPr lIns="0" tIns="0" rIns="0" bIns="0" anchor="t" anchorCtr="0"/>
          <a:lstStyle>
            <a:lvl1pPr marL="0" marR="0" indent="0" algn="l" defTabSz="914400" rtl="0" eaLnBrk="1" fontAlgn="auto" latinLnBrk="0" hangingPunct="1">
              <a:lnSpc>
                <a:spcPts val="3200"/>
              </a:lnSpc>
              <a:spcBef>
                <a:spcPts val="0"/>
              </a:spcBef>
              <a:spcAft>
                <a:spcPts val="0"/>
              </a:spcAft>
              <a:buClrTx/>
              <a:buSzTx/>
              <a:buFontTx/>
              <a:buNone/>
              <a:tabLst/>
              <a:defRPr sz="2800">
                <a:solidFill>
                  <a:srgbClr val="00539B"/>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a:p>
            <a:pPr lvl="0"/>
            <a:r>
              <a:rPr lang="en-US" dirty="0"/>
              <a:t>Click to edit title</a:t>
            </a:r>
          </a:p>
        </p:txBody>
      </p:sp>
      <p:sp>
        <p:nvSpPr>
          <p:cNvPr id="12" name="Text Placeholder 9">
            <a:extLst>
              <a:ext uri="{FF2B5EF4-FFF2-40B4-BE49-F238E27FC236}">
                <a16:creationId xmlns:a16="http://schemas.microsoft.com/office/drawing/2014/main" id="{C9900847-8310-4C10-9F27-E457BB1CE2D7}"/>
              </a:ext>
            </a:extLst>
          </p:cNvPr>
          <p:cNvSpPr>
            <a:spLocks noGrp="1"/>
          </p:cNvSpPr>
          <p:nvPr>
            <p:ph type="body" sz="quarter" idx="11" hasCustomPrompt="1"/>
          </p:nvPr>
        </p:nvSpPr>
        <p:spPr>
          <a:xfrm>
            <a:off x="838200" y="2855627"/>
            <a:ext cx="3429000" cy="594090"/>
          </a:xfrm>
          <a:prstGeom prst="rect">
            <a:avLst/>
          </a:prstGeom>
        </p:spPr>
        <p:txBody>
          <a:bodyPr lIns="0" tIns="0" rIns="0" bIns="0" anchor="t" anchorCtr="0"/>
          <a:lstStyle>
            <a:lvl1pPr marL="0" marR="0" indent="0" algn="l" defTabSz="914400" rtl="0" eaLnBrk="1" fontAlgn="auto" latinLnBrk="0" hangingPunct="1">
              <a:lnSpc>
                <a:spcPts val="3200"/>
              </a:lnSpc>
              <a:spcBef>
                <a:spcPts val="0"/>
              </a:spcBef>
              <a:spcAft>
                <a:spcPts val="0"/>
              </a:spcAft>
              <a:buClrTx/>
              <a:buSzTx/>
              <a:buFontTx/>
              <a:buNone/>
              <a:tabLst/>
              <a:defRPr sz="2000">
                <a:solidFill>
                  <a:srgbClr val="00539B"/>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p:txBody>
      </p:sp>
      <p:sp>
        <p:nvSpPr>
          <p:cNvPr id="4" name="Rectangle 3">
            <a:extLst>
              <a:ext uri="{FF2B5EF4-FFF2-40B4-BE49-F238E27FC236}">
                <a16:creationId xmlns:a16="http://schemas.microsoft.com/office/drawing/2014/main" id="{A579AD19-0CA9-4586-BEBB-75763B80C0AC}"/>
              </a:ext>
            </a:extLst>
          </p:cNvPr>
          <p:cNvSpPr/>
          <p:nvPr userDrawn="1"/>
        </p:nvSpPr>
        <p:spPr>
          <a:xfrm>
            <a:off x="0" y="1828800"/>
            <a:ext cx="8229600" cy="9144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2ABF594-0D26-474D-AB13-FB26A6532991}"/>
              </a:ext>
            </a:extLst>
          </p:cNvPr>
          <p:cNvSpPr>
            <a:spLocks noGrp="1"/>
          </p:cNvSpPr>
          <p:nvPr>
            <p:ph type="title" hasCustomPrompt="1"/>
          </p:nvPr>
        </p:nvSpPr>
        <p:spPr>
          <a:xfrm>
            <a:off x="838200" y="1828798"/>
            <a:ext cx="7010400" cy="914400"/>
          </a:xfrm>
          <a:prstGeom prst="rect">
            <a:avLst/>
          </a:prstGeom>
        </p:spPr>
        <p:txBody>
          <a:bodyPr lIns="0" rIns="0" anchor="ctr"/>
          <a:lstStyle>
            <a:lvl1pPr algn="l">
              <a:defRPr>
                <a:solidFill>
                  <a:schemeClr val="bg1"/>
                </a:solidFill>
                <a:latin typeface="Arial" panose="020B0604020202020204" pitchFamily="34" charset="0"/>
                <a:cs typeface="Arial" panose="020B0604020202020204" pitchFamily="34" charset="0"/>
              </a:defRPr>
            </a:lvl1pPr>
          </a:lstStyle>
          <a:p>
            <a:r>
              <a:rPr lang="en-US" dirty="0"/>
              <a:t>Click to edit title</a:t>
            </a:r>
          </a:p>
        </p:txBody>
      </p:sp>
    </p:spTree>
    <p:extLst>
      <p:ext uri="{BB962C8B-B14F-4D97-AF65-F5344CB8AC3E}">
        <p14:creationId xmlns:p14="http://schemas.microsoft.com/office/powerpoint/2010/main" val="4069429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5 and Divider o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CCFADC0-72FB-44D0-B56E-6FADE878CF9F}"/>
              </a:ext>
            </a:extLst>
          </p:cNvPr>
          <p:cNvSpPr/>
          <p:nvPr userDrawn="1"/>
        </p:nvSpPr>
        <p:spPr>
          <a:xfrm>
            <a:off x="0" y="0"/>
            <a:ext cx="12192000" cy="68580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88D08A57-C281-4122-B181-93F18B4940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46427" y="0"/>
            <a:ext cx="10545573" cy="6858000"/>
          </a:xfrm>
          <a:prstGeom prst="rect">
            <a:avLst/>
          </a:prstGeom>
        </p:spPr>
      </p:pic>
      <p:sp>
        <p:nvSpPr>
          <p:cNvPr id="12" name="Text Placeholder 9">
            <a:extLst>
              <a:ext uri="{FF2B5EF4-FFF2-40B4-BE49-F238E27FC236}">
                <a16:creationId xmlns:a16="http://schemas.microsoft.com/office/drawing/2014/main" id="{61B90D5B-025B-4CFE-A6A5-EC3DE56735ED}"/>
              </a:ext>
            </a:extLst>
          </p:cNvPr>
          <p:cNvSpPr>
            <a:spLocks noGrp="1"/>
          </p:cNvSpPr>
          <p:nvPr>
            <p:ph type="body" sz="quarter" idx="10" hasCustomPrompt="1"/>
          </p:nvPr>
        </p:nvSpPr>
        <p:spPr>
          <a:xfrm>
            <a:off x="838200" y="654620"/>
            <a:ext cx="3733800" cy="990600"/>
          </a:xfrm>
          <a:prstGeom prst="rect">
            <a:avLst/>
          </a:prstGeom>
          <a:effectLst/>
        </p:spPr>
        <p:txBody>
          <a:bodyPr lIns="0" tIns="0" rIns="0" bIns="0" anchor="t" anchorCtr="0"/>
          <a:lstStyle>
            <a:lvl1pPr marL="0" marR="0" indent="0" algn="l" defTabSz="914400" rtl="0" eaLnBrk="1" fontAlgn="auto" latinLnBrk="0" hangingPunct="1">
              <a:lnSpc>
                <a:spcPts val="3600"/>
              </a:lnSpc>
              <a:spcBef>
                <a:spcPts val="0"/>
              </a:spcBef>
              <a:spcAft>
                <a:spcPts val="0"/>
              </a:spcAft>
              <a:buClrTx/>
              <a:buSzTx/>
              <a:buFontTx/>
              <a:buNone/>
              <a:tabLst/>
              <a:defRPr sz="3200">
                <a:solidFill>
                  <a:srgbClr val="FFC000"/>
                </a:solidFill>
                <a:effectLst/>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a:p>
            <a:pPr lvl="0"/>
            <a:r>
              <a:rPr lang="en-US" dirty="0"/>
              <a:t>Click to edit title</a:t>
            </a:r>
          </a:p>
        </p:txBody>
      </p:sp>
      <p:pic>
        <p:nvPicPr>
          <p:cNvPr id="13" name="Picture 12">
            <a:extLst>
              <a:ext uri="{FF2B5EF4-FFF2-40B4-BE49-F238E27FC236}">
                <a16:creationId xmlns:a16="http://schemas.microsoft.com/office/drawing/2014/main" id="{00A6C124-173C-474E-A10E-98548C27F5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43800" y="6071713"/>
            <a:ext cx="4389122" cy="548640"/>
          </a:xfrm>
          <a:prstGeom prst="rect">
            <a:avLst/>
          </a:prstGeom>
        </p:spPr>
      </p:pic>
      <p:sp>
        <p:nvSpPr>
          <p:cNvPr id="14" name="Text Placeholder 9">
            <a:extLst>
              <a:ext uri="{FF2B5EF4-FFF2-40B4-BE49-F238E27FC236}">
                <a16:creationId xmlns:a16="http://schemas.microsoft.com/office/drawing/2014/main" id="{BA43CD41-8F38-4286-9062-A11E2FD59F71}"/>
              </a:ext>
            </a:extLst>
          </p:cNvPr>
          <p:cNvSpPr>
            <a:spLocks noGrp="1"/>
          </p:cNvSpPr>
          <p:nvPr>
            <p:ph type="body" sz="quarter" idx="11" hasCustomPrompt="1"/>
          </p:nvPr>
        </p:nvSpPr>
        <p:spPr>
          <a:xfrm>
            <a:off x="838200" y="3962400"/>
            <a:ext cx="3733800" cy="594090"/>
          </a:xfrm>
          <a:prstGeom prst="rect">
            <a:avLst/>
          </a:prstGeom>
          <a:effectLst/>
        </p:spPr>
        <p:txBody>
          <a:bodyPr lIns="0" tIns="0" rIns="0" bIns="0" anchor="t" anchorCtr="0"/>
          <a:lstStyle>
            <a:lvl1pPr marL="0" marR="0" indent="0" algn="l" defTabSz="914400" rtl="0" eaLnBrk="1" fontAlgn="auto" latinLnBrk="0" hangingPunct="1">
              <a:lnSpc>
                <a:spcPts val="3200"/>
              </a:lnSpc>
              <a:spcBef>
                <a:spcPts val="0"/>
              </a:spcBef>
              <a:spcAft>
                <a:spcPts val="0"/>
              </a:spcAft>
              <a:buClrTx/>
              <a:buSzTx/>
              <a:buFontTx/>
              <a:buNone/>
              <a:tabLst/>
              <a:defRPr sz="2000" b="1">
                <a:solidFill>
                  <a:srgbClr val="FFC000"/>
                </a:solidFill>
                <a:effectLst/>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p:txBody>
      </p:sp>
      <p:sp>
        <p:nvSpPr>
          <p:cNvPr id="15" name="Rectangle 14">
            <a:extLst>
              <a:ext uri="{FF2B5EF4-FFF2-40B4-BE49-F238E27FC236}">
                <a16:creationId xmlns:a16="http://schemas.microsoft.com/office/drawing/2014/main" id="{1A2370DC-F1AD-4601-866F-F5C94655C0CE}"/>
              </a:ext>
            </a:extLst>
          </p:cNvPr>
          <p:cNvSpPr/>
          <p:nvPr userDrawn="1"/>
        </p:nvSpPr>
        <p:spPr>
          <a:xfrm>
            <a:off x="0" y="1858244"/>
            <a:ext cx="9033160" cy="1828801"/>
          </a:xfrm>
          <a:prstGeom prst="rect">
            <a:avLst/>
          </a:prstGeom>
          <a:solidFill>
            <a:schemeClr val="accent1">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
            <a:extLst>
              <a:ext uri="{FF2B5EF4-FFF2-40B4-BE49-F238E27FC236}">
                <a16:creationId xmlns:a16="http://schemas.microsoft.com/office/drawing/2014/main" id="{023431C2-B714-4AE5-804B-87600D329DF1}"/>
              </a:ext>
            </a:extLst>
          </p:cNvPr>
          <p:cNvSpPr>
            <a:spLocks noGrp="1"/>
          </p:cNvSpPr>
          <p:nvPr>
            <p:ph type="title" hasCustomPrompt="1"/>
          </p:nvPr>
        </p:nvSpPr>
        <p:spPr>
          <a:xfrm>
            <a:off x="838200" y="1842659"/>
            <a:ext cx="6019800" cy="1752583"/>
          </a:xfrm>
          <a:prstGeom prst="rect">
            <a:avLst/>
          </a:prstGeom>
        </p:spPr>
        <p:txBody>
          <a:bodyPr lIns="0" rIns="0" anchor="ctr"/>
          <a:lstStyle>
            <a:lvl1pPr algn="l">
              <a:lnSpc>
                <a:spcPts val="4200"/>
              </a:lnSpc>
              <a:defRPr>
                <a:solidFill>
                  <a:schemeClr val="bg1"/>
                </a:solidFill>
                <a:latin typeface="Arial" panose="020B0604020202020204" pitchFamily="34" charset="0"/>
                <a:cs typeface="Arial" panose="020B0604020202020204" pitchFamily="34" charset="0"/>
              </a:defRPr>
            </a:lvl1pPr>
          </a:lstStyle>
          <a:p>
            <a:r>
              <a:rPr lang="en-US" dirty="0"/>
              <a:t>Click to edit title</a:t>
            </a:r>
            <a:br>
              <a:rPr lang="en-US" dirty="0"/>
            </a:br>
            <a:r>
              <a:rPr lang="en-US" dirty="0"/>
              <a:t>Click to edit title</a:t>
            </a:r>
          </a:p>
        </p:txBody>
      </p:sp>
      <p:cxnSp>
        <p:nvCxnSpPr>
          <p:cNvPr id="17" name="Straight Connector 16">
            <a:extLst>
              <a:ext uri="{FF2B5EF4-FFF2-40B4-BE49-F238E27FC236}">
                <a16:creationId xmlns:a16="http://schemas.microsoft.com/office/drawing/2014/main" id="{E51D01C1-B011-4538-B245-7100B2D8D5FE}"/>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97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B36FBB-7584-49F6-8823-CB9848C3A2FE}"/>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3A388E6-0688-4686-863D-D2C78B7E53D7}"/>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rgbClr val="0070C0"/>
                </a:solidFill>
                <a:latin typeface="Arial" panose="020B0604020202020204" pitchFamily="34" charset="0"/>
                <a:cs typeface="Arial" panose="020B0604020202020204" pitchFamily="34" charset="0"/>
              </a:rPr>
              <a:pPr algn="r"/>
              <a:t>‹#›</a:t>
            </a:fld>
            <a:endParaRPr lang="en-US" sz="900" b="0" dirty="0">
              <a:solidFill>
                <a:srgbClr val="0070C0"/>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71CF7502-EB2F-4F10-BCD6-4B77868906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6" name="Text Placeholder 9">
            <a:extLst>
              <a:ext uri="{FF2B5EF4-FFF2-40B4-BE49-F238E27FC236}">
                <a16:creationId xmlns:a16="http://schemas.microsoft.com/office/drawing/2014/main" id="{BF80F411-0367-4416-8901-BC523FA4F529}"/>
              </a:ext>
            </a:extLst>
          </p:cNvPr>
          <p:cNvSpPr>
            <a:spLocks noGrp="1"/>
          </p:cNvSpPr>
          <p:nvPr>
            <p:ph type="body" sz="quarter" idx="10" hasCustomPrompt="1"/>
          </p:nvPr>
        </p:nvSpPr>
        <p:spPr>
          <a:xfrm>
            <a:off x="838200" y="0"/>
            <a:ext cx="10591800" cy="990600"/>
          </a:xfrm>
          <a:prstGeom prst="rect">
            <a:avLst/>
          </a:prstGeom>
        </p:spPr>
        <p:txBody>
          <a:bodyPr lIns="0" tIns="0" rIns="0" bIns="0" anchor="ctr" anchorCtr="0"/>
          <a:lstStyle>
            <a:lvl1pPr marL="0" indent="0">
              <a:spcBef>
                <a:spcPts val="0"/>
              </a:spcBef>
              <a:buFontTx/>
              <a:buNone/>
              <a:defRPr sz="38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p:txBody>
      </p:sp>
      <p:sp>
        <p:nvSpPr>
          <p:cNvPr id="4" name="Text Placeholder 3">
            <a:extLst>
              <a:ext uri="{FF2B5EF4-FFF2-40B4-BE49-F238E27FC236}">
                <a16:creationId xmlns:a16="http://schemas.microsoft.com/office/drawing/2014/main" id="{2599073E-A0C1-4CC2-854A-F58C23AB7812}"/>
              </a:ext>
            </a:extLst>
          </p:cNvPr>
          <p:cNvSpPr>
            <a:spLocks noGrp="1"/>
          </p:cNvSpPr>
          <p:nvPr>
            <p:ph type="body" sz="quarter" idx="11"/>
          </p:nvPr>
        </p:nvSpPr>
        <p:spPr>
          <a:xfrm>
            <a:off x="838200" y="1371599"/>
            <a:ext cx="9144000" cy="4876799"/>
          </a:xfrm>
          <a:prstGeom prst="rect">
            <a:avLst/>
          </a:prstGeo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4"/>
            <a:endParaRPr lang="en-US" dirty="0"/>
          </a:p>
        </p:txBody>
      </p:sp>
      <p:cxnSp>
        <p:nvCxnSpPr>
          <p:cNvPr id="8" name="Straight Connector 7">
            <a:extLst>
              <a:ext uri="{FF2B5EF4-FFF2-40B4-BE49-F238E27FC236}">
                <a16:creationId xmlns:a16="http://schemas.microsoft.com/office/drawing/2014/main" id="{A77EFB99-ECB1-4BD1-8895-66CC12460D0A}"/>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2995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B36FBB-7584-49F6-8823-CB9848C3A2FE}"/>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3A388E6-0688-4686-863D-D2C78B7E53D7}"/>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rgbClr val="0070C0"/>
                </a:solidFill>
                <a:latin typeface="Arial" panose="020B0604020202020204" pitchFamily="34" charset="0"/>
                <a:cs typeface="Arial" panose="020B0604020202020204" pitchFamily="34" charset="0"/>
              </a:rPr>
              <a:pPr algn="r"/>
              <a:t>‹#›</a:t>
            </a:fld>
            <a:endParaRPr lang="en-US" sz="900" b="0" dirty="0">
              <a:solidFill>
                <a:srgbClr val="0070C0"/>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71CF7502-EB2F-4F10-BCD6-4B77868906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6" name="Text Placeholder 9">
            <a:extLst>
              <a:ext uri="{FF2B5EF4-FFF2-40B4-BE49-F238E27FC236}">
                <a16:creationId xmlns:a16="http://schemas.microsoft.com/office/drawing/2014/main" id="{BF80F411-0367-4416-8901-BC523FA4F529}"/>
              </a:ext>
            </a:extLst>
          </p:cNvPr>
          <p:cNvSpPr>
            <a:spLocks noGrp="1"/>
          </p:cNvSpPr>
          <p:nvPr>
            <p:ph type="body" sz="quarter" idx="10" hasCustomPrompt="1"/>
          </p:nvPr>
        </p:nvSpPr>
        <p:spPr>
          <a:xfrm>
            <a:off x="838200" y="0"/>
            <a:ext cx="10591800" cy="990600"/>
          </a:xfrm>
          <a:prstGeom prst="rect">
            <a:avLst/>
          </a:prstGeom>
        </p:spPr>
        <p:txBody>
          <a:bodyPr lIns="0" tIns="0" rIns="0" bIns="0" anchor="ctr" anchorCtr="0"/>
          <a:lstStyle>
            <a:lvl1pPr marL="0" indent="0">
              <a:spcBef>
                <a:spcPts val="0"/>
              </a:spcBef>
              <a:buFontTx/>
              <a:buNone/>
              <a:defRPr sz="38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p:txBody>
      </p:sp>
      <p:sp>
        <p:nvSpPr>
          <p:cNvPr id="4" name="Text Placeholder 3">
            <a:extLst>
              <a:ext uri="{FF2B5EF4-FFF2-40B4-BE49-F238E27FC236}">
                <a16:creationId xmlns:a16="http://schemas.microsoft.com/office/drawing/2014/main" id="{2599073E-A0C1-4CC2-854A-F58C23AB7812}"/>
              </a:ext>
            </a:extLst>
          </p:cNvPr>
          <p:cNvSpPr>
            <a:spLocks noGrp="1"/>
          </p:cNvSpPr>
          <p:nvPr>
            <p:ph type="body" sz="quarter" idx="11"/>
          </p:nvPr>
        </p:nvSpPr>
        <p:spPr>
          <a:xfrm>
            <a:off x="838200" y="1371599"/>
            <a:ext cx="4648200" cy="4876799"/>
          </a:xfrm>
          <a:prstGeom prst="rect">
            <a:avLst/>
          </a:prstGeo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4"/>
            <a:endParaRPr lang="en-US" dirty="0"/>
          </a:p>
        </p:txBody>
      </p:sp>
      <p:cxnSp>
        <p:nvCxnSpPr>
          <p:cNvPr id="8" name="Straight Connector 7">
            <a:extLst>
              <a:ext uri="{FF2B5EF4-FFF2-40B4-BE49-F238E27FC236}">
                <a16:creationId xmlns:a16="http://schemas.microsoft.com/office/drawing/2014/main" id="{A77EFB99-ECB1-4BD1-8895-66CC12460D0A}"/>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80DAD63B-538F-4472-931A-982C99CA4C91}"/>
              </a:ext>
            </a:extLst>
          </p:cNvPr>
          <p:cNvSpPr>
            <a:spLocks noGrp="1"/>
          </p:cNvSpPr>
          <p:nvPr>
            <p:ph type="body" sz="quarter" idx="12"/>
          </p:nvPr>
        </p:nvSpPr>
        <p:spPr>
          <a:xfrm>
            <a:off x="6248400" y="1379973"/>
            <a:ext cx="4648200" cy="4876799"/>
          </a:xfrm>
          <a:prstGeom prst="rect">
            <a:avLst/>
          </a:prstGeo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4"/>
            <a:endParaRPr lang="en-US" dirty="0"/>
          </a:p>
        </p:txBody>
      </p:sp>
    </p:spTree>
    <p:extLst>
      <p:ext uri="{BB962C8B-B14F-4D97-AF65-F5344CB8AC3E}">
        <p14:creationId xmlns:p14="http://schemas.microsoft.com/office/powerpoint/2010/main" val="906584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F6BAFB7-F0FE-43B9-BB6D-B653A7E2A3AF}"/>
              </a:ext>
            </a:extLst>
          </p:cNvPr>
          <p:cNvSpPr/>
          <p:nvPr userDrawn="1"/>
        </p:nvSpPr>
        <p:spPr>
          <a:xfrm>
            <a:off x="0" y="5471160"/>
            <a:ext cx="8642659" cy="1379301"/>
          </a:xfrm>
          <a:prstGeom prst="rect">
            <a:avLst/>
          </a:prstGeom>
          <a:solidFill>
            <a:srgbClr val="FCE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FE98FE7-A6DA-4A1F-9507-6108D4FFBD57}"/>
              </a:ext>
            </a:extLst>
          </p:cNvPr>
          <p:cNvSpPr/>
          <p:nvPr userDrawn="1"/>
        </p:nvSpPr>
        <p:spPr>
          <a:xfrm>
            <a:off x="8642659" y="990600"/>
            <a:ext cx="3555263" cy="58674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04E54D3-FDE1-407F-98FC-407EF0C7D78B}"/>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F4E8FDD2-7642-47CB-B4DE-159D7BACF9C7}"/>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rgbClr val="0070C0"/>
                </a:solidFill>
                <a:latin typeface="Arial" panose="020B0604020202020204" pitchFamily="34" charset="0"/>
                <a:cs typeface="Arial" panose="020B0604020202020204" pitchFamily="34" charset="0"/>
              </a:rPr>
              <a:pPr algn="r"/>
              <a:t>‹#›</a:t>
            </a:fld>
            <a:endParaRPr lang="en-US" sz="900" b="0" dirty="0">
              <a:solidFill>
                <a:srgbClr val="0070C0"/>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EED7EC55-5B0C-401C-8425-CC88738A72D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12" name="Text Placeholder 9">
            <a:extLst>
              <a:ext uri="{FF2B5EF4-FFF2-40B4-BE49-F238E27FC236}">
                <a16:creationId xmlns:a16="http://schemas.microsoft.com/office/drawing/2014/main" id="{DF2D383B-DDBD-48EF-AAC5-9C9BCAA36D8F}"/>
              </a:ext>
            </a:extLst>
          </p:cNvPr>
          <p:cNvSpPr>
            <a:spLocks noGrp="1"/>
          </p:cNvSpPr>
          <p:nvPr>
            <p:ph type="body" sz="quarter" idx="10" hasCustomPrompt="1"/>
          </p:nvPr>
        </p:nvSpPr>
        <p:spPr>
          <a:xfrm>
            <a:off x="838200" y="0"/>
            <a:ext cx="10591800" cy="990600"/>
          </a:xfrm>
          <a:prstGeom prst="rect">
            <a:avLst/>
          </a:prstGeom>
        </p:spPr>
        <p:txBody>
          <a:bodyPr lIns="0" tIns="0" rIns="0" bIns="0" anchor="ctr" anchorCtr="0"/>
          <a:lstStyle>
            <a:lvl1pPr marL="0" indent="0">
              <a:spcBef>
                <a:spcPts val="0"/>
              </a:spcBef>
              <a:buFontTx/>
              <a:buNone/>
              <a:defRPr sz="38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p:txBody>
      </p:sp>
      <p:cxnSp>
        <p:nvCxnSpPr>
          <p:cNvPr id="14" name="Straight Connector 13">
            <a:extLst>
              <a:ext uri="{FF2B5EF4-FFF2-40B4-BE49-F238E27FC236}">
                <a16:creationId xmlns:a16="http://schemas.microsoft.com/office/drawing/2014/main" id="{A2AF5554-2D7D-4D60-98B8-A43D3E02584A}"/>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12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F6BAFB7-F0FE-43B9-BB6D-B653A7E2A3AF}"/>
              </a:ext>
            </a:extLst>
          </p:cNvPr>
          <p:cNvSpPr/>
          <p:nvPr userDrawn="1"/>
        </p:nvSpPr>
        <p:spPr>
          <a:xfrm>
            <a:off x="0" y="6393261"/>
            <a:ext cx="8642659" cy="457200"/>
          </a:xfrm>
          <a:prstGeom prst="rect">
            <a:avLst/>
          </a:prstGeom>
          <a:solidFill>
            <a:srgbClr val="FCE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FE98FE7-A6DA-4A1F-9507-6108D4FFBD57}"/>
              </a:ext>
            </a:extLst>
          </p:cNvPr>
          <p:cNvSpPr/>
          <p:nvPr userDrawn="1"/>
        </p:nvSpPr>
        <p:spPr>
          <a:xfrm>
            <a:off x="8642659" y="990600"/>
            <a:ext cx="3555263" cy="58674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04E54D3-FDE1-407F-98FC-407EF0C7D78B}"/>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F4E8FDD2-7642-47CB-B4DE-159D7BACF9C7}"/>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rgbClr val="0070C0"/>
                </a:solidFill>
                <a:latin typeface="Arial" panose="020B0604020202020204" pitchFamily="34" charset="0"/>
                <a:cs typeface="Arial" panose="020B0604020202020204" pitchFamily="34" charset="0"/>
              </a:rPr>
              <a:pPr algn="r"/>
              <a:t>‹#›</a:t>
            </a:fld>
            <a:endParaRPr lang="en-US" sz="900" b="0" dirty="0">
              <a:solidFill>
                <a:srgbClr val="0070C0"/>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EED7EC55-5B0C-401C-8425-CC88738A72D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12" name="Text Placeholder 9">
            <a:extLst>
              <a:ext uri="{FF2B5EF4-FFF2-40B4-BE49-F238E27FC236}">
                <a16:creationId xmlns:a16="http://schemas.microsoft.com/office/drawing/2014/main" id="{DF2D383B-DDBD-48EF-AAC5-9C9BCAA36D8F}"/>
              </a:ext>
            </a:extLst>
          </p:cNvPr>
          <p:cNvSpPr>
            <a:spLocks noGrp="1"/>
          </p:cNvSpPr>
          <p:nvPr>
            <p:ph type="body" sz="quarter" idx="10" hasCustomPrompt="1"/>
          </p:nvPr>
        </p:nvSpPr>
        <p:spPr>
          <a:xfrm>
            <a:off x="838200" y="0"/>
            <a:ext cx="10591800" cy="990600"/>
          </a:xfrm>
          <a:prstGeom prst="rect">
            <a:avLst/>
          </a:prstGeom>
        </p:spPr>
        <p:txBody>
          <a:bodyPr lIns="0" tIns="0" rIns="0" bIns="0" anchor="ctr" anchorCtr="0"/>
          <a:lstStyle>
            <a:lvl1pPr marL="0" indent="0">
              <a:spcBef>
                <a:spcPts val="0"/>
              </a:spcBef>
              <a:buFontTx/>
              <a:buNone/>
              <a:defRPr sz="38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to edit title</a:t>
            </a:r>
          </a:p>
        </p:txBody>
      </p:sp>
      <p:cxnSp>
        <p:nvCxnSpPr>
          <p:cNvPr id="14" name="Straight Connector 13">
            <a:extLst>
              <a:ext uri="{FF2B5EF4-FFF2-40B4-BE49-F238E27FC236}">
                <a16:creationId xmlns:a16="http://schemas.microsoft.com/office/drawing/2014/main" id="{A2AF5554-2D7D-4D60-98B8-A43D3E02584A}"/>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2973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search-1 divider">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61C99B-CC65-47C0-AF62-4D8D65D3AE6E}"/>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rgbClr val="0070C0"/>
                </a:solidFill>
                <a:latin typeface="Arial" panose="020B0604020202020204" pitchFamily="34" charset="0"/>
                <a:cs typeface="Arial" panose="020B0604020202020204" pitchFamily="34" charset="0"/>
              </a:rPr>
              <a:pPr algn="r"/>
              <a:t>‹#›</a:t>
            </a:fld>
            <a:endParaRPr lang="en-US" sz="900" b="0" dirty="0">
              <a:solidFill>
                <a:srgbClr val="0070C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6CD765E-BB26-4E28-A153-066DA051A1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121" b="15905"/>
          <a:stretch/>
        </p:blipFill>
        <p:spPr>
          <a:xfrm>
            <a:off x="0" y="914400"/>
            <a:ext cx="12198096" cy="5943600"/>
          </a:xfrm>
          <a:prstGeom prst="rect">
            <a:avLst/>
          </a:prstGeom>
        </p:spPr>
      </p:pic>
      <p:sp>
        <p:nvSpPr>
          <p:cNvPr id="4" name="Rectangle 3">
            <a:extLst>
              <a:ext uri="{FF2B5EF4-FFF2-40B4-BE49-F238E27FC236}">
                <a16:creationId xmlns:a16="http://schemas.microsoft.com/office/drawing/2014/main" id="{BDB5E25E-C7F3-4530-9218-2D26871DAA91}"/>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8EF20599-06FF-4A9E-9BB5-C63077B9425C}"/>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8FE4C60E-2CDE-4258-B475-395C922213B2}"/>
              </a:ext>
            </a:extLst>
          </p:cNvPr>
          <p:cNvSpPr>
            <a:spLocks noGrp="1"/>
          </p:cNvSpPr>
          <p:nvPr>
            <p:ph type="body" sz="quarter" idx="10" hasCustomPrompt="1"/>
          </p:nvPr>
        </p:nvSpPr>
        <p:spPr>
          <a:xfrm>
            <a:off x="2905272" y="3200400"/>
            <a:ext cx="8153400" cy="2286000"/>
          </a:xfrm>
          <a:prstGeom prst="rect">
            <a:avLst/>
          </a:prstGeom>
        </p:spPr>
        <p:txBody>
          <a:bodyPr/>
          <a:lstStyle>
            <a:lvl1pPr marL="0" indent="0">
              <a:spcBef>
                <a:spcPts val="0"/>
              </a:spcBef>
              <a:buFontTx/>
              <a:buNone/>
              <a:defRPr sz="44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Research </a:t>
            </a:r>
            <a:br>
              <a:rPr lang="en-US" dirty="0"/>
            </a:br>
            <a:r>
              <a:rPr lang="en-US" dirty="0"/>
              <a:t>Divider Title</a:t>
            </a:r>
          </a:p>
        </p:txBody>
      </p:sp>
      <p:sp>
        <p:nvSpPr>
          <p:cNvPr id="13" name="Rectangle 12">
            <a:extLst>
              <a:ext uri="{FF2B5EF4-FFF2-40B4-BE49-F238E27FC236}">
                <a16:creationId xmlns:a16="http://schemas.microsoft.com/office/drawing/2014/main" id="{CE4D65C1-69B3-4FA9-8FB2-F87E6CB12689}"/>
              </a:ext>
            </a:extLst>
          </p:cNvPr>
          <p:cNvSpPr/>
          <p:nvPr userDrawn="1"/>
        </p:nvSpPr>
        <p:spPr>
          <a:xfrm>
            <a:off x="533400" y="0"/>
            <a:ext cx="2514600" cy="6096000"/>
          </a:xfrm>
          <a:prstGeom prst="rect">
            <a:avLst/>
          </a:prstGeom>
          <a:gradFill>
            <a:gsLst>
              <a:gs pos="0">
                <a:srgbClr val="00B0F0">
                  <a:alpha val="55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51615C69-1B09-4D14-989F-9CA3C1EB8BF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0600" y="567185"/>
            <a:ext cx="1600200" cy="1600200"/>
          </a:xfrm>
          <a:prstGeom prst="rect">
            <a:avLst/>
          </a:prstGeom>
          <a:effectLst>
            <a:outerShdw blurRad="50800" dist="38100" dir="2700000" algn="tl" rotWithShape="0">
              <a:prstClr val="black">
                <a:alpha val="40000"/>
              </a:prstClr>
            </a:outerShdw>
          </a:effectLst>
        </p:spPr>
      </p:pic>
      <p:cxnSp>
        <p:nvCxnSpPr>
          <p:cNvPr id="12" name="Straight Connector 11">
            <a:extLst>
              <a:ext uri="{FF2B5EF4-FFF2-40B4-BE49-F238E27FC236}">
                <a16:creationId xmlns:a16="http://schemas.microsoft.com/office/drawing/2014/main" id="{DCB80424-0006-4EAE-8EBA-40FD525FD188}"/>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FA69694B-74EB-45B3-82EA-B061BDAA43B3}"/>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7" name="Rectangle 6">
            <a:extLst>
              <a:ext uri="{FF2B5EF4-FFF2-40B4-BE49-F238E27FC236}">
                <a16:creationId xmlns:a16="http://schemas.microsoft.com/office/drawing/2014/main" id="{D9F7EE07-EA07-4B31-9340-485FE8611BD9}"/>
              </a:ext>
            </a:extLst>
          </p:cNvPr>
          <p:cNvSpPr/>
          <p:nvPr userDrawn="1"/>
        </p:nvSpPr>
        <p:spPr>
          <a:xfrm>
            <a:off x="2914552" y="452070"/>
            <a:ext cx="3339376" cy="707886"/>
          </a:xfrm>
          <a:prstGeom prst="rect">
            <a:avLst/>
          </a:prstGeom>
        </p:spPr>
        <p:txBody>
          <a:bodyPr wrap="none">
            <a:spAutoFit/>
          </a:bodyPr>
          <a:lstStyle/>
          <a:p>
            <a:r>
              <a:rPr lang="en-US" sz="4000" spc="300" dirty="0">
                <a:solidFill>
                  <a:srgbClr val="F9C708"/>
                </a:solidFill>
                <a:latin typeface="Arial" panose="020B0604020202020204" pitchFamily="34" charset="0"/>
                <a:cs typeface="Arial" panose="020B0604020202020204" pitchFamily="34" charset="0"/>
              </a:rPr>
              <a:t>RESEARCH</a:t>
            </a:r>
          </a:p>
        </p:txBody>
      </p:sp>
    </p:spTree>
    <p:extLst>
      <p:ext uri="{BB962C8B-B14F-4D97-AF65-F5344CB8AC3E}">
        <p14:creationId xmlns:p14="http://schemas.microsoft.com/office/powerpoint/2010/main" val="1934994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search-2 divider">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61C99B-CC65-47C0-AF62-4D8D65D3AE6E}"/>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rgbClr val="0070C0"/>
                </a:solidFill>
                <a:latin typeface="Arial" panose="020B0604020202020204" pitchFamily="34" charset="0"/>
                <a:cs typeface="Arial" panose="020B0604020202020204" pitchFamily="34" charset="0"/>
              </a:rPr>
              <a:pPr algn="r"/>
              <a:t>‹#›</a:t>
            </a:fld>
            <a:endParaRPr lang="en-US" sz="900" b="0" dirty="0">
              <a:solidFill>
                <a:srgbClr val="0070C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6CD765E-BB26-4E28-A153-066DA051A1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13267" b="23285"/>
          <a:stretch/>
        </p:blipFill>
        <p:spPr>
          <a:xfrm>
            <a:off x="0" y="990601"/>
            <a:ext cx="12198096" cy="5867399"/>
          </a:xfrm>
          <a:prstGeom prst="rect">
            <a:avLst/>
          </a:prstGeom>
        </p:spPr>
      </p:pic>
      <p:sp>
        <p:nvSpPr>
          <p:cNvPr id="4" name="Rectangle 3">
            <a:extLst>
              <a:ext uri="{FF2B5EF4-FFF2-40B4-BE49-F238E27FC236}">
                <a16:creationId xmlns:a16="http://schemas.microsoft.com/office/drawing/2014/main" id="{BDB5E25E-C7F3-4530-9218-2D26871DAA91}"/>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8EF20599-06FF-4A9E-9BB5-C63077B9425C}"/>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8FE4C60E-2CDE-4258-B475-395C922213B2}"/>
              </a:ext>
            </a:extLst>
          </p:cNvPr>
          <p:cNvSpPr>
            <a:spLocks noGrp="1"/>
          </p:cNvSpPr>
          <p:nvPr>
            <p:ph type="body" sz="quarter" idx="10" hasCustomPrompt="1"/>
          </p:nvPr>
        </p:nvSpPr>
        <p:spPr>
          <a:xfrm>
            <a:off x="2905272" y="1752599"/>
            <a:ext cx="8153400" cy="2286000"/>
          </a:xfrm>
          <a:prstGeom prst="rect">
            <a:avLst/>
          </a:prstGeom>
        </p:spPr>
        <p:txBody>
          <a:bodyPr/>
          <a:lstStyle>
            <a:lvl1pPr marL="0" indent="0">
              <a:spcBef>
                <a:spcPts val="0"/>
              </a:spcBef>
              <a:buFontTx/>
              <a:buNone/>
              <a:defRPr sz="44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Research </a:t>
            </a:r>
            <a:br>
              <a:rPr lang="en-US" dirty="0"/>
            </a:br>
            <a:r>
              <a:rPr lang="en-US" dirty="0"/>
              <a:t>Divider Title</a:t>
            </a:r>
          </a:p>
        </p:txBody>
      </p:sp>
      <p:sp>
        <p:nvSpPr>
          <p:cNvPr id="13" name="Rectangle 12">
            <a:extLst>
              <a:ext uri="{FF2B5EF4-FFF2-40B4-BE49-F238E27FC236}">
                <a16:creationId xmlns:a16="http://schemas.microsoft.com/office/drawing/2014/main" id="{CE4D65C1-69B3-4FA9-8FB2-F87E6CB12689}"/>
              </a:ext>
            </a:extLst>
          </p:cNvPr>
          <p:cNvSpPr/>
          <p:nvPr userDrawn="1"/>
        </p:nvSpPr>
        <p:spPr>
          <a:xfrm>
            <a:off x="533400" y="0"/>
            <a:ext cx="2514600" cy="6096000"/>
          </a:xfrm>
          <a:prstGeom prst="rect">
            <a:avLst/>
          </a:prstGeom>
          <a:gradFill>
            <a:gsLst>
              <a:gs pos="0">
                <a:srgbClr val="00B0F0">
                  <a:alpha val="55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51615C69-1B09-4D14-989F-9CA3C1EB8BF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0600" y="567185"/>
            <a:ext cx="1600200" cy="1600200"/>
          </a:xfrm>
          <a:prstGeom prst="rect">
            <a:avLst/>
          </a:prstGeom>
          <a:effectLst>
            <a:outerShdw blurRad="50800" dist="38100" dir="2700000" algn="tl" rotWithShape="0">
              <a:prstClr val="black">
                <a:alpha val="40000"/>
              </a:prstClr>
            </a:outerShdw>
          </a:effectLst>
        </p:spPr>
      </p:pic>
      <p:cxnSp>
        <p:nvCxnSpPr>
          <p:cNvPr id="12" name="Straight Connector 11">
            <a:extLst>
              <a:ext uri="{FF2B5EF4-FFF2-40B4-BE49-F238E27FC236}">
                <a16:creationId xmlns:a16="http://schemas.microsoft.com/office/drawing/2014/main" id="{DCB80424-0006-4EAE-8EBA-40FD525FD188}"/>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FA69694B-74EB-45B3-82EA-B061BDAA43B3}"/>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7" name="Rectangle 6">
            <a:extLst>
              <a:ext uri="{FF2B5EF4-FFF2-40B4-BE49-F238E27FC236}">
                <a16:creationId xmlns:a16="http://schemas.microsoft.com/office/drawing/2014/main" id="{D9F7EE07-EA07-4B31-9340-485FE8611BD9}"/>
              </a:ext>
            </a:extLst>
          </p:cNvPr>
          <p:cNvSpPr/>
          <p:nvPr userDrawn="1"/>
        </p:nvSpPr>
        <p:spPr>
          <a:xfrm>
            <a:off x="2914552" y="452070"/>
            <a:ext cx="3339376" cy="707886"/>
          </a:xfrm>
          <a:prstGeom prst="rect">
            <a:avLst/>
          </a:prstGeom>
        </p:spPr>
        <p:txBody>
          <a:bodyPr wrap="none">
            <a:spAutoFit/>
          </a:bodyPr>
          <a:lstStyle/>
          <a:p>
            <a:r>
              <a:rPr lang="en-US" sz="4000" spc="300" dirty="0">
                <a:solidFill>
                  <a:srgbClr val="F9C708"/>
                </a:solidFill>
                <a:latin typeface="Arial" panose="020B0604020202020204" pitchFamily="34" charset="0"/>
                <a:cs typeface="Arial" panose="020B0604020202020204" pitchFamily="34" charset="0"/>
              </a:rPr>
              <a:t>RESEARCH</a:t>
            </a:r>
          </a:p>
        </p:txBody>
      </p:sp>
    </p:spTree>
    <p:extLst>
      <p:ext uri="{BB962C8B-B14F-4D97-AF65-F5344CB8AC3E}">
        <p14:creationId xmlns:p14="http://schemas.microsoft.com/office/powerpoint/2010/main" val="4146976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ducation-1 divider">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1870C49-B3AD-49EC-87DB-8B5904F6EB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892" b="15089"/>
          <a:stretch/>
        </p:blipFill>
        <p:spPr>
          <a:xfrm>
            <a:off x="-9526" y="914408"/>
            <a:ext cx="12198096" cy="5936054"/>
          </a:xfrm>
          <a:prstGeom prst="rect">
            <a:avLst/>
          </a:prstGeom>
        </p:spPr>
      </p:pic>
      <p:sp>
        <p:nvSpPr>
          <p:cNvPr id="2" name="TextBox 1">
            <a:extLst>
              <a:ext uri="{FF2B5EF4-FFF2-40B4-BE49-F238E27FC236}">
                <a16:creationId xmlns:a16="http://schemas.microsoft.com/office/drawing/2014/main" id="{E761C99B-CC65-47C0-AF62-4D8D65D3AE6E}"/>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rgbClr val="0070C0"/>
                </a:solidFill>
                <a:latin typeface="Arial" panose="020B0604020202020204" pitchFamily="34" charset="0"/>
                <a:cs typeface="Arial" panose="020B0604020202020204" pitchFamily="34" charset="0"/>
              </a:rPr>
              <a:pPr algn="r"/>
              <a:t>‹#›</a:t>
            </a:fld>
            <a:endParaRPr lang="en-US" sz="900" b="0" dirty="0">
              <a:solidFill>
                <a:srgbClr val="0070C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EF20599-06FF-4A9E-9BB5-C63077B9425C}"/>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8FE4C60E-2CDE-4258-B475-395C922213B2}"/>
              </a:ext>
            </a:extLst>
          </p:cNvPr>
          <p:cNvSpPr>
            <a:spLocks noGrp="1"/>
          </p:cNvSpPr>
          <p:nvPr>
            <p:ph type="body" sz="quarter" idx="10" hasCustomPrompt="1"/>
          </p:nvPr>
        </p:nvSpPr>
        <p:spPr>
          <a:xfrm>
            <a:off x="2905272" y="1752599"/>
            <a:ext cx="8153400" cy="2286000"/>
          </a:xfrm>
          <a:prstGeom prst="rect">
            <a:avLst/>
          </a:prstGeom>
        </p:spPr>
        <p:txBody>
          <a:bodyPr/>
          <a:lstStyle>
            <a:lvl1pPr marL="0" indent="0">
              <a:spcBef>
                <a:spcPts val="0"/>
              </a:spcBef>
              <a:buFontTx/>
              <a:buNone/>
              <a:defRPr sz="44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Education </a:t>
            </a:r>
            <a:br>
              <a:rPr lang="en-US" dirty="0"/>
            </a:br>
            <a:r>
              <a:rPr lang="en-US" dirty="0"/>
              <a:t>Divider Title</a:t>
            </a:r>
          </a:p>
        </p:txBody>
      </p:sp>
      <p:sp>
        <p:nvSpPr>
          <p:cNvPr id="11" name="Rectangle 10">
            <a:extLst>
              <a:ext uri="{FF2B5EF4-FFF2-40B4-BE49-F238E27FC236}">
                <a16:creationId xmlns:a16="http://schemas.microsoft.com/office/drawing/2014/main" id="{D7B7521D-FED9-42BB-A75B-433F5ADA43F4}"/>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3D271C3-FAAB-455B-B27F-8AC64A153F14}"/>
              </a:ext>
            </a:extLst>
          </p:cNvPr>
          <p:cNvSpPr/>
          <p:nvPr userDrawn="1"/>
        </p:nvSpPr>
        <p:spPr>
          <a:xfrm>
            <a:off x="533400" y="0"/>
            <a:ext cx="2514600" cy="6096000"/>
          </a:xfrm>
          <a:prstGeom prst="rect">
            <a:avLst/>
          </a:prstGeom>
          <a:gradFill>
            <a:gsLst>
              <a:gs pos="0">
                <a:srgbClr val="00B0F0">
                  <a:alpha val="55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F3CB7048-9FD2-4F7C-9C70-466156BCEF3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0600" y="555485"/>
            <a:ext cx="1600200" cy="1600200"/>
          </a:xfrm>
          <a:prstGeom prst="rect">
            <a:avLst/>
          </a:prstGeom>
          <a:effectLst>
            <a:outerShdw blurRad="50800" dist="38100" dir="2700000" algn="tl" rotWithShape="0">
              <a:prstClr val="black">
                <a:alpha val="40000"/>
              </a:prstClr>
            </a:outerShdw>
          </a:effectLst>
        </p:spPr>
      </p:pic>
      <p:cxnSp>
        <p:nvCxnSpPr>
          <p:cNvPr id="16" name="Straight Connector 15">
            <a:extLst>
              <a:ext uri="{FF2B5EF4-FFF2-40B4-BE49-F238E27FC236}">
                <a16:creationId xmlns:a16="http://schemas.microsoft.com/office/drawing/2014/main" id="{4E9FB7A2-0E01-4E17-9709-FD57EE6C4794}"/>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01EE860D-8E75-4E5B-AEB1-641E833FC719}"/>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15" name="Rectangle 14">
            <a:extLst>
              <a:ext uri="{FF2B5EF4-FFF2-40B4-BE49-F238E27FC236}">
                <a16:creationId xmlns:a16="http://schemas.microsoft.com/office/drawing/2014/main" id="{DDBCF111-7A27-4824-B503-0435427D6A54}"/>
              </a:ext>
            </a:extLst>
          </p:cNvPr>
          <p:cNvSpPr/>
          <p:nvPr userDrawn="1"/>
        </p:nvSpPr>
        <p:spPr>
          <a:xfrm>
            <a:off x="2914552" y="452070"/>
            <a:ext cx="3511282" cy="707886"/>
          </a:xfrm>
          <a:prstGeom prst="rect">
            <a:avLst/>
          </a:prstGeom>
        </p:spPr>
        <p:txBody>
          <a:bodyPr wrap="none">
            <a:spAutoFit/>
          </a:bodyPr>
          <a:lstStyle/>
          <a:p>
            <a:r>
              <a:rPr lang="en-US" sz="4000" spc="300" dirty="0">
                <a:solidFill>
                  <a:srgbClr val="F9C708"/>
                </a:solidFill>
                <a:latin typeface="Arial" panose="020B0604020202020204" pitchFamily="34" charset="0"/>
                <a:cs typeface="Arial" panose="020B0604020202020204" pitchFamily="34" charset="0"/>
              </a:rPr>
              <a:t>EDUCATION</a:t>
            </a:r>
          </a:p>
        </p:txBody>
      </p:sp>
    </p:spTree>
    <p:extLst>
      <p:ext uri="{BB962C8B-B14F-4D97-AF65-F5344CB8AC3E}">
        <p14:creationId xmlns:p14="http://schemas.microsoft.com/office/powerpoint/2010/main" val="73309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ducation-2 divider">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1870C49-B3AD-49EC-87DB-8B5904F6EB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0725"/>
          <a:stretch/>
        </p:blipFill>
        <p:spPr>
          <a:xfrm>
            <a:off x="0" y="457200"/>
            <a:ext cx="12198096" cy="6400800"/>
          </a:xfrm>
          <a:prstGeom prst="rect">
            <a:avLst/>
          </a:prstGeom>
        </p:spPr>
      </p:pic>
      <p:sp>
        <p:nvSpPr>
          <p:cNvPr id="2" name="TextBox 1">
            <a:extLst>
              <a:ext uri="{FF2B5EF4-FFF2-40B4-BE49-F238E27FC236}">
                <a16:creationId xmlns:a16="http://schemas.microsoft.com/office/drawing/2014/main" id="{E761C99B-CC65-47C0-AF62-4D8D65D3AE6E}"/>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rgbClr val="0070C0"/>
                </a:solidFill>
                <a:latin typeface="Arial" panose="020B0604020202020204" pitchFamily="34" charset="0"/>
                <a:cs typeface="Arial" panose="020B0604020202020204" pitchFamily="34" charset="0"/>
              </a:rPr>
              <a:pPr algn="r"/>
              <a:t>‹#›</a:t>
            </a:fld>
            <a:endParaRPr lang="en-US" sz="900" b="0" dirty="0">
              <a:solidFill>
                <a:srgbClr val="0070C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EF20599-06FF-4A9E-9BB5-C63077B9425C}"/>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8FE4C60E-2CDE-4258-B475-395C922213B2}"/>
              </a:ext>
            </a:extLst>
          </p:cNvPr>
          <p:cNvSpPr>
            <a:spLocks noGrp="1"/>
          </p:cNvSpPr>
          <p:nvPr>
            <p:ph type="body" sz="quarter" idx="10" hasCustomPrompt="1"/>
          </p:nvPr>
        </p:nvSpPr>
        <p:spPr>
          <a:xfrm>
            <a:off x="2905272" y="1752599"/>
            <a:ext cx="8153400" cy="2286000"/>
          </a:xfrm>
          <a:prstGeom prst="rect">
            <a:avLst/>
          </a:prstGeom>
        </p:spPr>
        <p:txBody>
          <a:bodyPr/>
          <a:lstStyle>
            <a:lvl1pPr marL="0" indent="0">
              <a:spcBef>
                <a:spcPts val="0"/>
              </a:spcBef>
              <a:buFontTx/>
              <a:buNone/>
              <a:defRPr sz="44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Education </a:t>
            </a:r>
            <a:br>
              <a:rPr lang="en-US" dirty="0"/>
            </a:br>
            <a:r>
              <a:rPr lang="en-US" dirty="0"/>
              <a:t>Divider Title</a:t>
            </a:r>
          </a:p>
        </p:txBody>
      </p:sp>
      <p:sp>
        <p:nvSpPr>
          <p:cNvPr id="11" name="Rectangle 10">
            <a:extLst>
              <a:ext uri="{FF2B5EF4-FFF2-40B4-BE49-F238E27FC236}">
                <a16:creationId xmlns:a16="http://schemas.microsoft.com/office/drawing/2014/main" id="{D7B7521D-FED9-42BB-A75B-433F5ADA43F4}"/>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3D271C3-FAAB-455B-B27F-8AC64A153F14}"/>
              </a:ext>
            </a:extLst>
          </p:cNvPr>
          <p:cNvSpPr/>
          <p:nvPr userDrawn="1"/>
        </p:nvSpPr>
        <p:spPr>
          <a:xfrm>
            <a:off x="533400" y="0"/>
            <a:ext cx="2514600" cy="6096000"/>
          </a:xfrm>
          <a:prstGeom prst="rect">
            <a:avLst/>
          </a:prstGeom>
          <a:gradFill>
            <a:gsLst>
              <a:gs pos="0">
                <a:srgbClr val="00B0F0">
                  <a:alpha val="55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F3CB7048-9FD2-4F7C-9C70-466156BCEF3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0600" y="555485"/>
            <a:ext cx="1600200" cy="1600200"/>
          </a:xfrm>
          <a:prstGeom prst="rect">
            <a:avLst/>
          </a:prstGeom>
          <a:effectLst>
            <a:outerShdw blurRad="50800" dist="38100" dir="2700000" algn="tl" rotWithShape="0">
              <a:prstClr val="black">
                <a:alpha val="40000"/>
              </a:prstClr>
            </a:outerShdw>
          </a:effectLst>
        </p:spPr>
      </p:pic>
      <p:cxnSp>
        <p:nvCxnSpPr>
          <p:cNvPr id="16" name="Straight Connector 15">
            <a:extLst>
              <a:ext uri="{FF2B5EF4-FFF2-40B4-BE49-F238E27FC236}">
                <a16:creationId xmlns:a16="http://schemas.microsoft.com/office/drawing/2014/main" id="{4E9FB7A2-0E01-4E17-9709-FD57EE6C4794}"/>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01EE860D-8E75-4E5B-AEB1-641E833FC719}"/>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15" name="Rectangle 14">
            <a:extLst>
              <a:ext uri="{FF2B5EF4-FFF2-40B4-BE49-F238E27FC236}">
                <a16:creationId xmlns:a16="http://schemas.microsoft.com/office/drawing/2014/main" id="{DDBCF111-7A27-4824-B503-0435427D6A54}"/>
              </a:ext>
            </a:extLst>
          </p:cNvPr>
          <p:cNvSpPr/>
          <p:nvPr userDrawn="1"/>
        </p:nvSpPr>
        <p:spPr>
          <a:xfrm>
            <a:off x="2914552" y="452070"/>
            <a:ext cx="3511282" cy="707886"/>
          </a:xfrm>
          <a:prstGeom prst="rect">
            <a:avLst/>
          </a:prstGeom>
        </p:spPr>
        <p:txBody>
          <a:bodyPr wrap="none">
            <a:spAutoFit/>
          </a:bodyPr>
          <a:lstStyle/>
          <a:p>
            <a:r>
              <a:rPr lang="en-US" sz="4000" spc="300" dirty="0">
                <a:solidFill>
                  <a:srgbClr val="F9C708"/>
                </a:solidFill>
                <a:latin typeface="Arial" panose="020B0604020202020204" pitchFamily="34" charset="0"/>
                <a:cs typeface="Arial" panose="020B0604020202020204" pitchFamily="34" charset="0"/>
              </a:rPr>
              <a:t>EDUCATION</a:t>
            </a:r>
          </a:p>
        </p:txBody>
      </p:sp>
    </p:spTree>
    <p:extLst>
      <p:ext uri="{BB962C8B-B14F-4D97-AF65-F5344CB8AC3E}">
        <p14:creationId xmlns:p14="http://schemas.microsoft.com/office/powerpoint/2010/main" val="3302436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munity Partnership-1 divi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EEEBC3-4997-4310-B254-823470CFD33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062" b="11325"/>
          <a:stretch/>
        </p:blipFill>
        <p:spPr>
          <a:xfrm>
            <a:off x="-3048" y="914400"/>
            <a:ext cx="12198096" cy="5943600"/>
          </a:xfrm>
          <a:prstGeom prst="rect">
            <a:avLst/>
          </a:prstGeom>
        </p:spPr>
      </p:pic>
      <p:sp>
        <p:nvSpPr>
          <p:cNvPr id="4" name="Rectangle 3">
            <a:extLst>
              <a:ext uri="{FF2B5EF4-FFF2-40B4-BE49-F238E27FC236}">
                <a16:creationId xmlns:a16="http://schemas.microsoft.com/office/drawing/2014/main" id="{266130A5-B74E-44A0-B9BE-AB6DE17F2246}"/>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835B96F2-2B13-4F99-9F28-56F41411A42D}"/>
              </a:ext>
            </a:extLst>
          </p:cNvPr>
          <p:cNvSpPr/>
          <p:nvPr userDrawn="1"/>
        </p:nvSpPr>
        <p:spPr>
          <a:xfrm>
            <a:off x="533400" y="0"/>
            <a:ext cx="2514600" cy="6096000"/>
          </a:xfrm>
          <a:prstGeom prst="rect">
            <a:avLst/>
          </a:prstGeom>
          <a:gradFill>
            <a:gsLst>
              <a:gs pos="0">
                <a:srgbClr val="00B0F0">
                  <a:alpha val="55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738ADD7-5DC5-4F5C-880B-5984F6A5703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7649" y="555485"/>
            <a:ext cx="1586101" cy="1600200"/>
          </a:xfrm>
          <a:prstGeom prst="rect">
            <a:avLst/>
          </a:prstGeom>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22D9BA0B-8983-4920-9352-48FB2C5514B5}"/>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
        <p:nvSpPr>
          <p:cNvPr id="9" name="Text Placeholder 9">
            <a:extLst>
              <a:ext uri="{FF2B5EF4-FFF2-40B4-BE49-F238E27FC236}">
                <a16:creationId xmlns:a16="http://schemas.microsoft.com/office/drawing/2014/main" id="{70DC61EE-A758-4BAB-8EFA-E8BADDDB73B1}"/>
              </a:ext>
            </a:extLst>
          </p:cNvPr>
          <p:cNvSpPr>
            <a:spLocks noGrp="1"/>
          </p:cNvSpPr>
          <p:nvPr>
            <p:ph type="body" sz="quarter" idx="10" hasCustomPrompt="1"/>
          </p:nvPr>
        </p:nvSpPr>
        <p:spPr>
          <a:xfrm>
            <a:off x="2905272" y="2400300"/>
            <a:ext cx="8153400" cy="2286000"/>
          </a:xfrm>
          <a:prstGeom prst="rect">
            <a:avLst/>
          </a:prstGeom>
        </p:spPr>
        <p:txBody>
          <a:bodyPr/>
          <a:lstStyle>
            <a:lvl1pPr marL="0" indent="0">
              <a:spcBef>
                <a:spcPts val="0"/>
              </a:spcBef>
              <a:buFontTx/>
              <a:buNone/>
              <a:defRPr sz="44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Community Partnership Divider Title</a:t>
            </a:r>
          </a:p>
        </p:txBody>
      </p:sp>
      <p:cxnSp>
        <p:nvCxnSpPr>
          <p:cNvPr id="11" name="Straight Connector 10">
            <a:extLst>
              <a:ext uri="{FF2B5EF4-FFF2-40B4-BE49-F238E27FC236}">
                <a16:creationId xmlns:a16="http://schemas.microsoft.com/office/drawing/2014/main" id="{F42BBA74-2F61-4C84-8D96-E8E0866822D7}"/>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EF5D95FF-BBAC-42A4-AC29-0588BDA19A1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7" name="Rectangle 6">
            <a:extLst>
              <a:ext uri="{FF2B5EF4-FFF2-40B4-BE49-F238E27FC236}">
                <a16:creationId xmlns:a16="http://schemas.microsoft.com/office/drawing/2014/main" id="{3236B4A4-C63D-4629-85DA-AF86445BFAB2}"/>
              </a:ext>
            </a:extLst>
          </p:cNvPr>
          <p:cNvSpPr/>
          <p:nvPr userDrawn="1"/>
        </p:nvSpPr>
        <p:spPr>
          <a:xfrm>
            <a:off x="2914552" y="452070"/>
            <a:ext cx="8066054" cy="707886"/>
          </a:xfrm>
          <a:prstGeom prst="rect">
            <a:avLst/>
          </a:prstGeom>
        </p:spPr>
        <p:txBody>
          <a:bodyPr wrap="none">
            <a:spAutoFit/>
          </a:bodyPr>
          <a:lstStyle/>
          <a:p>
            <a:r>
              <a:rPr lang="en-US" sz="4000" spc="300" dirty="0">
                <a:solidFill>
                  <a:srgbClr val="F9C708"/>
                </a:solidFill>
                <a:latin typeface="Arial" panose="020B0604020202020204" pitchFamily="34" charset="0"/>
                <a:cs typeface="Arial" panose="020B0604020202020204" pitchFamily="34" charset="0"/>
              </a:rPr>
              <a:t>COMMUNITY  PARTNERSHIP</a:t>
            </a:r>
          </a:p>
        </p:txBody>
      </p:sp>
    </p:spTree>
    <p:extLst>
      <p:ext uri="{BB962C8B-B14F-4D97-AF65-F5344CB8AC3E}">
        <p14:creationId xmlns:p14="http://schemas.microsoft.com/office/powerpoint/2010/main" val="25842204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munity Partnership-2 divi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EEEBC3-4997-4310-B254-823470CFD33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2491" b="22637"/>
          <a:stretch/>
        </p:blipFill>
        <p:spPr>
          <a:xfrm>
            <a:off x="0" y="914401"/>
            <a:ext cx="12198096" cy="5936064"/>
          </a:xfrm>
          <a:prstGeom prst="rect">
            <a:avLst/>
          </a:prstGeom>
        </p:spPr>
      </p:pic>
      <p:sp>
        <p:nvSpPr>
          <p:cNvPr id="4" name="Rectangle 3">
            <a:extLst>
              <a:ext uri="{FF2B5EF4-FFF2-40B4-BE49-F238E27FC236}">
                <a16:creationId xmlns:a16="http://schemas.microsoft.com/office/drawing/2014/main" id="{266130A5-B74E-44A0-B9BE-AB6DE17F2246}"/>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835B96F2-2B13-4F99-9F28-56F41411A42D}"/>
              </a:ext>
            </a:extLst>
          </p:cNvPr>
          <p:cNvSpPr/>
          <p:nvPr userDrawn="1"/>
        </p:nvSpPr>
        <p:spPr>
          <a:xfrm>
            <a:off x="533400" y="0"/>
            <a:ext cx="2514600" cy="6096000"/>
          </a:xfrm>
          <a:prstGeom prst="rect">
            <a:avLst/>
          </a:prstGeom>
          <a:gradFill>
            <a:gsLst>
              <a:gs pos="0">
                <a:srgbClr val="00B0F0">
                  <a:alpha val="55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738ADD7-5DC5-4F5C-880B-5984F6A5703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7649" y="555485"/>
            <a:ext cx="1586101" cy="1600200"/>
          </a:xfrm>
          <a:prstGeom prst="rect">
            <a:avLst/>
          </a:prstGeom>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22D9BA0B-8983-4920-9352-48FB2C5514B5}"/>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
        <p:nvSpPr>
          <p:cNvPr id="9" name="Text Placeholder 9">
            <a:extLst>
              <a:ext uri="{FF2B5EF4-FFF2-40B4-BE49-F238E27FC236}">
                <a16:creationId xmlns:a16="http://schemas.microsoft.com/office/drawing/2014/main" id="{70DC61EE-A758-4BAB-8EFA-E8BADDDB73B1}"/>
              </a:ext>
            </a:extLst>
          </p:cNvPr>
          <p:cNvSpPr>
            <a:spLocks noGrp="1"/>
          </p:cNvSpPr>
          <p:nvPr>
            <p:ph type="body" sz="quarter" idx="10" hasCustomPrompt="1"/>
          </p:nvPr>
        </p:nvSpPr>
        <p:spPr>
          <a:xfrm>
            <a:off x="2905272" y="2400300"/>
            <a:ext cx="8153400" cy="1638300"/>
          </a:xfrm>
          <a:prstGeom prst="rect">
            <a:avLst/>
          </a:prstGeom>
          <a:noFill/>
        </p:spPr>
        <p:txBody>
          <a:bodyPr/>
          <a:lstStyle>
            <a:lvl1pPr marL="0" indent="0">
              <a:spcBef>
                <a:spcPts val="0"/>
              </a:spcBef>
              <a:buFontTx/>
              <a:buNone/>
              <a:defRPr sz="44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Community Partnership Divider Title</a:t>
            </a:r>
          </a:p>
        </p:txBody>
      </p:sp>
      <p:cxnSp>
        <p:nvCxnSpPr>
          <p:cNvPr id="11" name="Straight Connector 10">
            <a:extLst>
              <a:ext uri="{FF2B5EF4-FFF2-40B4-BE49-F238E27FC236}">
                <a16:creationId xmlns:a16="http://schemas.microsoft.com/office/drawing/2014/main" id="{F42BBA74-2F61-4C84-8D96-E8E0866822D7}"/>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EF5D95FF-BBAC-42A4-AC29-0588BDA19A1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7" name="Rectangle 6">
            <a:extLst>
              <a:ext uri="{FF2B5EF4-FFF2-40B4-BE49-F238E27FC236}">
                <a16:creationId xmlns:a16="http://schemas.microsoft.com/office/drawing/2014/main" id="{3236B4A4-C63D-4629-85DA-AF86445BFAB2}"/>
              </a:ext>
            </a:extLst>
          </p:cNvPr>
          <p:cNvSpPr/>
          <p:nvPr userDrawn="1"/>
        </p:nvSpPr>
        <p:spPr>
          <a:xfrm>
            <a:off x="2914552" y="452070"/>
            <a:ext cx="8066054" cy="707886"/>
          </a:xfrm>
          <a:prstGeom prst="rect">
            <a:avLst/>
          </a:prstGeom>
        </p:spPr>
        <p:txBody>
          <a:bodyPr wrap="none">
            <a:spAutoFit/>
          </a:bodyPr>
          <a:lstStyle/>
          <a:p>
            <a:r>
              <a:rPr lang="en-US" sz="4000" spc="300" dirty="0">
                <a:solidFill>
                  <a:srgbClr val="F9C708"/>
                </a:solidFill>
                <a:latin typeface="Arial" panose="020B0604020202020204" pitchFamily="34" charset="0"/>
                <a:cs typeface="Arial" panose="020B0604020202020204" pitchFamily="34" charset="0"/>
              </a:rPr>
              <a:t>COMMUNITY  PARTNERSHIP</a:t>
            </a:r>
          </a:p>
        </p:txBody>
      </p:sp>
    </p:spTree>
    <p:extLst>
      <p:ext uri="{BB962C8B-B14F-4D97-AF65-F5344CB8AC3E}">
        <p14:creationId xmlns:p14="http://schemas.microsoft.com/office/powerpoint/2010/main" val="1275633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atient Care-2 divi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773CC8-4606-4B85-AFB1-5B67972875B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229" b="8817"/>
          <a:stretch/>
        </p:blipFill>
        <p:spPr>
          <a:xfrm>
            <a:off x="0" y="609600"/>
            <a:ext cx="12198096" cy="6240862"/>
          </a:xfrm>
          <a:prstGeom prst="rect">
            <a:avLst/>
          </a:prstGeom>
        </p:spPr>
      </p:pic>
      <p:sp>
        <p:nvSpPr>
          <p:cNvPr id="4" name="Rectangle 3">
            <a:extLst>
              <a:ext uri="{FF2B5EF4-FFF2-40B4-BE49-F238E27FC236}">
                <a16:creationId xmlns:a16="http://schemas.microsoft.com/office/drawing/2014/main" id="{AB5B14E6-0F35-446B-BAFA-D80F3068454C}"/>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D6C2DC4-AF2F-439D-BFA5-A902FF902BA2}"/>
              </a:ext>
            </a:extLst>
          </p:cNvPr>
          <p:cNvSpPr/>
          <p:nvPr userDrawn="1"/>
        </p:nvSpPr>
        <p:spPr>
          <a:xfrm>
            <a:off x="533400" y="0"/>
            <a:ext cx="2514600" cy="6096000"/>
          </a:xfrm>
          <a:prstGeom prst="rect">
            <a:avLst/>
          </a:prstGeom>
          <a:gradFill>
            <a:gsLst>
              <a:gs pos="0">
                <a:srgbClr val="00B0F0">
                  <a:alpha val="55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A1B77E63-2CCA-40A2-811E-3452677D661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7649" y="555485"/>
            <a:ext cx="1586101" cy="1600200"/>
          </a:xfrm>
          <a:prstGeom prst="rect">
            <a:avLst/>
          </a:prstGeom>
          <a:effectLst>
            <a:outerShdw blurRad="50800" dist="38100" dir="2700000" algn="tl" rotWithShape="0">
              <a:prstClr val="black">
                <a:alpha val="40000"/>
              </a:prstClr>
            </a:outerShdw>
          </a:effectLst>
        </p:spPr>
      </p:pic>
      <p:sp>
        <p:nvSpPr>
          <p:cNvPr id="8" name="Text Placeholder 9">
            <a:extLst>
              <a:ext uri="{FF2B5EF4-FFF2-40B4-BE49-F238E27FC236}">
                <a16:creationId xmlns:a16="http://schemas.microsoft.com/office/drawing/2014/main" id="{907C0BA9-A3DE-41EF-8C5C-E498FD15D5AA}"/>
              </a:ext>
            </a:extLst>
          </p:cNvPr>
          <p:cNvSpPr>
            <a:spLocks noGrp="1"/>
          </p:cNvSpPr>
          <p:nvPr>
            <p:ph type="body" sz="quarter" idx="10" hasCustomPrompt="1"/>
          </p:nvPr>
        </p:nvSpPr>
        <p:spPr>
          <a:xfrm>
            <a:off x="2905272" y="3492777"/>
            <a:ext cx="8153400" cy="2286000"/>
          </a:xfrm>
          <a:prstGeom prst="rect">
            <a:avLst/>
          </a:prstGeom>
        </p:spPr>
        <p:txBody>
          <a:bodyPr/>
          <a:lstStyle>
            <a:lvl1pPr marL="0" indent="0">
              <a:spcBef>
                <a:spcPts val="0"/>
              </a:spcBef>
              <a:buFontTx/>
              <a:buNone/>
              <a:defRPr sz="44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Patient </a:t>
            </a:r>
            <a:br>
              <a:rPr lang="en-US" dirty="0"/>
            </a:br>
            <a:r>
              <a:rPr lang="en-US" dirty="0"/>
              <a:t>Care Divider Title</a:t>
            </a:r>
          </a:p>
        </p:txBody>
      </p:sp>
      <p:cxnSp>
        <p:nvCxnSpPr>
          <p:cNvPr id="10" name="Straight Connector 9">
            <a:extLst>
              <a:ext uri="{FF2B5EF4-FFF2-40B4-BE49-F238E27FC236}">
                <a16:creationId xmlns:a16="http://schemas.microsoft.com/office/drawing/2014/main" id="{261B33B5-0477-4616-B42E-47914C5A9272}"/>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AA41F26-556C-4D75-9A8F-FC43447CBD04}"/>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7" name="Rectangle 6">
            <a:extLst>
              <a:ext uri="{FF2B5EF4-FFF2-40B4-BE49-F238E27FC236}">
                <a16:creationId xmlns:a16="http://schemas.microsoft.com/office/drawing/2014/main" id="{230BE9F1-6024-43B0-AE74-C932F512E42F}"/>
              </a:ext>
            </a:extLst>
          </p:cNvPr>
          <p:cNvSpPr/>
          <p:nvPr userDrawn="1"/>
        </p:nvSpPr>
        <p:spPr>
          <a:xfrm>
            <a:off x="2914552" y="452070"/>
            <a:ext cx="4470583" cy="707886"/>
          </a:xfrm>
          <a:prstGeom prst="rect">
            <a:avLst/>
          </a:prstGeom>
        </p:spPr>
        <p:txBody>
          <a:bodyPr wrap="none">
            <a:spAutoFit/>
          </a:bodyPr>
          <a:lstStyle/>
          <a:p>
            <a:r>
              <a:rPr lang="en-US" sz="4000" spc="300" dirty="0">
                <a:solidFill>
                  <a:srgbClr val="F9C708"/>
                </a:solidFill>
                <a:latin typeface="Arial" panose="020B0604020202020204" pitchFamily="34" charset="0"/>
                <a:cs typeface="Arial" panose="020B0604020202020204" pitchFamily="34" charset="0"/>
              </a:rPr>
              <a:t>PATIENT  CARE</a:t>
            </a:r>
          </a:p>
        </p:txBody>
      </p:sp>
      <p:sp>
        <p:nvSpPr>
          <p:cNvPr id="12" name="TextBox 11">
            <a:extLst>
              <a:ext uri="{FF2B5EF4-FFF2-40B4-BE49-F238E27FC236}">
                <a16:creationId xmlns:a16="http://schemas.microsoft.com/office/drawing/2014/main" id="{0A69489E-5CB8-46BF-97BD-12E20879957F}"/>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7722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atient Care-3 divi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773CC8-4606-4B85-AFB1-5B67972875B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6840" b="10185"/>
          <a:stretch/>
        </p:blipFill>
        <p:spPr>
          <a:xfrm>
            <a:off x="0" y="914399"/>
            <a:ext cx="12198096" cy="5943601"/>
          </a:xfrm>
          <a:prstGeom prst="rect">
            <a:avLst/>
          </a:prstGeom>
        </p:spPr>
      </p:pic>
      <p:sp>
        <p:nvSpPr>
          <p:cNvPr id="4" name="Rectangle 3">
            <a:extLst>
              <a:ext uri="{FF2B5EF4-FFF2-40B4-BE49-F238E27FC236}">
                <a16:creationId xmlns:a16="http://schemas.microsoft.com/office/drawing/2014/main" id="{AB5B14E6-0F35-446B-BAFA-D80F3068454C}"/>
              </a:ext>
            </a:extLst>
          </p:cNvPr>
          <p:cNvSpPr/>
          <p:nvPr userDrawn="1"/>
        </p:nvSpPr>
        <p:spPr>
          <a:xfrm>
            <a:off x="0" y="0"/>
            <a:ext cx="12192000" cy="990600"/>
          </a:xfrm>
          <a:prstGeom prst="rect">
            <a:avLst/>
          </a:prstGeom>
          <a:solidFill>
            <a:srgbClr val="0053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D6C2DC4-AF2F-439D-BFA5-A902FF902BA2}"/>
              </a:ext>
            </a:extLst>
          </p:cNvPr>
          <p:cNvSpPr/>
          <p:nvPr userDrawn="1"/>
        </p:nvSpPr>
        <p:spPr>
          <a:xfrm>
            <a:off x="533400" y="0"/>
            <a:ext cx="2514600" cy="6096000"/>
          </a:xfrm>
          <a:prstGeom prst="rect">
            <a:avLst/>
          </a:prstGeom>
          <a:gradFill>
            <a:gsLst>
              <a:gs pos="0">
                <a:srgbClr val="00B0F0">
                  <a:alpha val="55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A1B77E63-2CCA-40A2-811E-3452677D661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7649" y="555485"/>
            <a:ext cx="1586101" cy="1600200"/>
          </a:xfrm>
          <a:prstGeom prst="rect">
            <a:avLst/>
          </a:prstGeom>
          <a:effectLst>
            <a:outerShdw blurRad="50800" dist="38100" dir="2700000" algn="tl" rotWithShape="0">
              <a:prstClr val="black">
                <a:alpha val="40000"/>
              </a:prstClr>
            </a:outerShdw>
          </a:effectLst>
        </p:spPr>
      </p:pic>
      <p:sp>
        <p:nvSpPr>
          <p:cNvPr id="8" name="Text Placeholder 9">
            <a:extLst>
              <a:ext uri="{FF2B5EF4-FFF2-40B4-BE49-F238E27FC236}">
                <a16:creationId xmlns:a16="http://schemas.microsoft.com/office/drawing/2014/main" id="{907C0BA9-A3DE-41EF-8C5C-E498FD15D5AA}"/>
              </a:ext>
            </a:extLst>
          </p:cNvPr>
          <p:cNvSpPr>
            <a:spLocks noGrp="1"/>
          </p:cNvSpPr>
          <p:nvPr>
            <p:ph type="body" sz="quarter" idx="10" hasCustomPrompt="1"/>
          </p:nvPr>
        </p:nvSpPr>
        <p:spPr>
          <a:xfrm>
            <a:off x="2905272" y="1447800"/>
            <a:ext cx="8153400" cy="2286000"/>
          </a:xfrm>
          <a:prstGeom prst="rect">
            <a:avLst/>
          </a:prstGeom>
        </p:spPr>
        <p:txBody>
          <a:bodyPr/>
          <a:lstStyle>
            <a:lvl1pPr marL="0" indent="0">
              <a:spcBef>
                <a:spcPts val="0"/>
              </a:spcBef>
              <a:buFontTx/>
              <a:buNone/>
              <a:defRPr sz="4400">
                <a:solidFill>
                  <a:schemeClr val="bg1"/>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Patient Care Divider Title</a:t>
            </a:r>
          </a:p>
        </p:txBody>
      </p:sp>
      <p:cxnSp>
        <p:nvCxnSpPr>
          <p:cNvPr id="10" name="Straight Connector 9">
            <a:extLst>
              <a:ext uri="{FF2B5EF4-FFF2-40B4-BE49-F238E27FC236}">
                <a16:creationId xmlns:a16="http://schemas.microsoft.com/office/drawing/2014/main" id="{261B33B5-0477-4616-B42E-47914C5A9272}"/>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AA41F26-556C-4D75-9A8F-FC43447CBD04}"/>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714" r="55508" b="57143"/>
          <a:stretch/>
        </p:blipFill>
        <p:spPr>
          <a:xfrm>
            <a:off x="6050280" y="3048"/>
            <a:ext cx="6141720" cy="987552"/>
          </a:xfrm>
          <a:prstGeom prst="rect">
            <a:avLst/>
          </a:prstGeom>
        </p:spPr>
      </p:pic>
      <p:sp>
        <p:nvSpPr>
          <p:cNvPr id="7" name="Rectangle 6">
            <a:extLst>
              <a:ext uri="{FF2B5EF4-FFF2-40B4-BE49-F238E27FC236}">
                <a16:creationId xmlns:a16="http://schemas.microsoft.com/office/drawing/2014/main" id="{230BE9F1-6024-43B0-AE74-C932F512E42F}"/>
              </a:ext>
            </a:extLst>
          </p:cNvPr>
          <p:cNvSpPr/>
          <p:nvPr userDrawn="1"/>
        </p:nvSpPr>
        <p:spPr>
          <a:xfrm>
            <a:off x="2914552" y="452070"/>
            <a:ext cx="4470583" cy="707886"/>
          </a:xfrm>
          <a:prstGeom prst="rect">
            <a:avLst/>
          </a:prstGeom>
        </p:spPr>
        <p:txBody>
          <a:bodyPr wrap="none">
            <a:spAutoFit/>
          </a:bodyPr>
          <a:lstStyle/>
          <a:p>
            <a:r>
              <a:rPr lang="en-US" sz="4000" spc="300" dirty="0">
                <a:solidFill>
                  <a:srgbClr val="F9C708"/>
                </a:solidFill>
                <a:latin typeface="Arial" panose="020B0604020202020204" pitchFamily="34" charset="0"/>
                <a:cs typeface="Arial" panose="020B0604020202020204" pitchFamily="34" charset="0"/>
              </a:rPr>
              <a:t>PATIENT  CARE</a:t>
            </a:r>
          </a:p>
        </p:txBody>
      </p:sp>
      <p:sp>
        <p:nvSpPr>
          <p:cNvPr id="12" name="TextBox 11">
            <a:extLst>
              <a:ext uri="{FF2B5EF4-FFF2-40B4-BE49-F238E27FC236}">
                <a16:creationId xmlns:a16="http://schemas.microsoft.com/office/drawing/2014/main" id="{0A69489E-5CB8-46BF-97BD-12E20879957F}"/>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5098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7BB553-FADA-4133-B7FA-CED001A55EFF}"/>
              </a:ext>
            </a:extLst>
          </p:cNvPr>
          <p:cNvPicPr>
            <a:picLocks noChangeAspect="1"/>
          </p:cNvPicPr>
          <p:nvPr userDrawn="1"/>
        </p:nvPicPr>
        <p:blipFill rotWithShape="1">
          <a:blip r:embed="rId2"/>
          <a:srcRect t="15857"/>
          <a:stretch/>
        </p:blipFill>
        <p:spPr>
          <a:xfrm>
            <a:off x="-6096" y="0"/>
            <a:ext cx="12198096" cy="6858000"/>
          </a:xfrm>
          <a:prstGeom prst="rect">
            <a:avLst/>
          </a:prstGeom>
        </p:spPr>
      </p:pic>
      <p:sp>
        <p:nvSpPr>
          <p:cNvPr id="4" name="Rectangle 3">
            <a:extLst>
              <a:ext uri="{FF2B5EF4-FFF2-40B4-BE49-F238E27FC236}">
                <a16:creationId xmlns:a16="http://schemas.microsoft.com/office/drawing/2014/main" id="{153F87F6-D1EE-46FF-BAAD-6CF345D4E96E}"/>
              </a:ext>
            </a:extLst>
          </p:cNvPr>
          <p:cNvSpPr/>
          <p:nvPr userDrawn="1"/>
        </p:nvSpPr>
        <p:spPr>
          <a:xfrm>
            <a:off x="0" y="1026674"/>
            <a:ext cx="7626096" cy="1524000"/>
          </a:xfrm>
          <a:prstGeom prst="rect">
            <a:avLst/>
          </a:prstGeom>
          <a:solidFill>
            <a:srgbClr val="F9C7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600"/>
              </a:lnSpc>
            </a:pPr>
            <a:endParaRPr lang="en-US" dirty="0"/>
          </a:p>
        </p:txBody>
      </p:sp>
      <p:cxnSp>
        <p:nvCxnSpPr>
          <p:cNvPr id="6" name="Straight Connector 5">
            <a:extLst>
              <a:ext uri="{FF2B5EF4-FFF2-40B4-BE49-F238E27FC236}">
                <a16:creationId xmlns:a16="http://schemas.microsoft.com/office/drawing/2014/main" id="{B2E4CB00-3151-4F47-8963-844171209CBA}"/>
              </a:ext>
            </a:extLst>
          </p:cNvPr>
          <p:cNvCxnSpPr>
            <a:cxnSpLocks/>
          </p:cNvCxnSpPr>
          <p:nvPr userDrawn="1"/>
        </p:nvCxnSpPr>
        <p:spPr>
          <a:xfrm>
            <a:off x="0" y="6850464"/>
            <a:ext cx="12192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633FA77-004F-4E8C-B50A-ABB309363B7A}"/>
              </a:ext>
            </a:extLst>
          </p:cNvPr>
          <p:cNvSpPr txBox="1"/>
          <p:nvPr userDrawn="1"/>
        </p:nvSpPr>
        <p:spPr>
          <a:xfrm>
            <a:off x="10896600" y="6477000"/>
            <a:ext cx="1143000" cy="230832"/>
          </a:xfrm>
          <a:prstGeom prst="rect">
            <a:avLst/>
          </a:prstGeom>
          <a:noFill/>
        </p:spPr>
        <p:txBody>
          <a:bodyPr wrap="square" rtlCol="0">
            <a:spAutoFit/>
          </a:bodyPr>
          <a:lstStyle/>
          <a:p>
            <a:pPr algn="r"/>
            <a:fld id="{9F087212-C6E7-4721-AA5F-5CAB1EBA9D2D}" type="slidenum">
              <a:rPr lang="en-US" sz="900" b="0" smtClean="0">
                <a:solidFill>
                  <a:schemeClr val="bg1"/>
                </a:solidFill>
                <a:latin typeface="Arial" panose="020B0604020202020204" pitchFamily="34" charset="0"/>
                <a:cs typeface="Arial" panose="020B0604020202020204" pitchFamily="34" charset="0"/>
              </a:rPr>
              <a:pPr algn="r"/>
              <a:t>‹#›</a:t>
            </a:fld>
            <a:endParaRPr lang="en-US" sz="900" b="0" dirty="0">
              <a:solidFill>
                <a:schemeClr val="bg1"/>
              </a:solidFill>
              <a:latin typeface="Arial" panose="020B0604020202020204" pitchFamily="34" charset="0"/>
              <a:cs typeface="Arial" panose="020B0604020202020204" pitchFamily="34" charset="0"/>
            </a:endParaRPr>
          </a:p>
        </p:txBody>
      </p:sp>
      <p:sp>
        <p:nvSpPr>
          <p:cNvPr id="8" name="Text Placeholder 9">
            <a:extLst>
              <a:ext uri="{FF2B5EF4-FFF2-40B4-BE49-F238E27FC236}">
                <a16:creationId xmlns:a16="http://schemas.microsoft.com/office/drawing/2014/main" id="{BDC581C1-370E-4ED7-90F4-60EA8CDE3757}"/>
              </a:ext>
            </a:extLst>
          </p:cNvPr>
          <p:cNvSpPr>
            <a:spLocks noGrp="1"/>
          </p:cNvSpPr>
          <p:nvPr>
            <p:ph type="body" sz="quarter" idx="10" hasCustomPrompt="1"/>
          </p:nvPr>
        </p:nvSpPr>
        <p:spPr>
          <a:xfrm>
            <a:off x="304800" y="1019139"/>
            <a:ext cx="7321296" cy="1531530"/>
          </a:xfrm>
          <a:prstGeom prst="rect">
            <a:avLst/>
          </a:prstGeom>
        </p:spPr>
        <p:txBody>
          <a:bodyPr anchor="ctr"/>
          <a:lstStyle>
            <a:lvl1pPr marL="0" indent="0">
              <a:spcBef>
                <a:spcPts val="0"/>
              </a:spcBef>
              <a:buFontTx/>
              <a:buNone/>
              <a:defRPr sz="4800">
                <a:solidFill>
                  <a:srgbClr val="0070C0"/>
                </a:solidFill>
                <a:latin typeface="Arial" panose="020B0604020202020204" pitchFamily="34" charset="0"/>
                <a:cs typeface="Arial" panose="020B0604020202020204" pitchFamily="34" charset="0"/>
              </a:defRPr>
            </a:lvl1pPr>
            <a:lvl2pPr marL="457200" indent="0">
              <a:buFontTx/>
              <a:buNone/>
              <a:defRPr>
                <a:latin typeface="Arial" panose="020B0604020202020204" pitchFamily="34" charset="0"/>
                <a:cs typeface="Arial" panose="020B0604020202020204" pitchFamily="34" charset="0"/>
              </a:defRPr>
            </a:lvl2pPr>
            <a:lvl3pPr marL="914400" indent="0">
              <a:buFontTx/>
              <a:buNone/>
              <a:defRPr>
                <a:latin typeface="Arial" panose="020B0604020202020204" pitchFamily="34" charset="0"/>
                <a:cs typeface="Arial" panose="020B0604020202020204" pitchFamily="34" charset="0"/>
              </a:defRPr>
            </a:lvl3pPr>
            <a:lvl4pPr marL="1371600" indent="0">
              <a:buFontTx/>
              <a:buNone/>
              <a:defRPr>
                <a:latin typeface="Arial" panose="020B0604020202020204" pitchFamily="34" charset="0"/>
                <a:cs typeface="Arial" panose="020B0604020202020204" pitchFamily="34" charset="0"/>
              </a:defRPr>
            </a:lvl4pPr>
            <a:lvl5pPr marL="1828800" indent="0">
              <a:buFontTx/>
              <a:buNone/>
              <a:defRPr>
                <a:latin typeface="Arial" panose="020B0604020202020204" pitchFamily="34" charset="0"/>
                <a:cs typeface="Arial" panose="020B0604020202020204" pitchFamily="34" charset="0"/>
              </a:defRPr>
            </a:lvl5pPr>
          </a:lstStyle>
          <a:p>
            <a:pPr lvl="0"/>
            <a:r>
              <a:rPr lang="en-US" dirty="0"/>
              <a:t>Click here for text</a:t>
            </a:r>
          </a:p>
        </p:txBody>
      </p:sp>
    </p:spTree>
    <p:extLst>
      <p:ext uri="{BB962C8B-B14F-4D97-AF65-F5344CB8AC3E}">
        <p14:creationId xmlns:p14="http://schemas.microsoft.com/office/powerpoint/2010/main" val="2559175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1852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614851"/>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3" r:id="rId3"/>
    <p:sldLayoutId id="2147483721" r:id="rId4"/>
    <p:sldLayoutId id="2147483727" r:id="rId5"/>
    <p:sldLayoutId id="2147483722" r:id="rId6"/>
    <p:sldLayoutId id="2147483731" r:id="rId7"/>
    <p:sldLayoutId id="2147483717" r:id="rId8"/>
    <p:sldLayoutId id="2147483735" r:id="rId9"/>
    <p:sldLayoutId id="2147483718" r:id="rId10"/>
    <p:sldLayoutId id="2147483737" r:id="rId11"/>
    <p:sldLayoutId id="2147483719" r:id="rId12"/>
    <p:sldLayoutId id="2147483736" r:id="rId13"/>
    <p:sldLayoutId id="2147483738" r:id="rId14"/>
    <p:sldLayoutId id="2147483739" r:id="rId15"/>
    <p:sldLayoutId id="2147483734" r:id="rId16"/>
    <p:sldLayoutId id="2147483733" r:id="rId17"/>
  </p:sldLayoutIdLst>
  <p:hf hdr="0" ftr="0" dt="0"/>
  <p:txStyles>
    <p:titleStyle>
      <a:lvl1pPr algn="ctr" defTabSz="914400" rtl="0" eaLnBrk="1" latinLnBrk="0" hangingPunct="1">
        <a:spcBef>
          <a:spcPct val="0"/>
        </a:spcBef>
        <a:buNone/>
        <a:defRPr sz="40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CA0FC16-C11D-4DB6-8604-9BD7CCFE8A44}"/>
              </a:ext>
            </a:extLst>
          </p:cNvPr>
          <p:cNvSpPr>
            <a:spLocks noGrp="1"/>
          </p:cNvSpPr>
          <p:nvPr>
            <p:ph type="body" sz="quarter" idx="11"/>
          </p:nvPr>
        </p:nvSpPr>
        <p:spPr>
          <a:xfrm>
            <a:off x="838200" y="3962400"/>
            <a:ext cx="8915400" cy="1752582"/>
          </a:xfrm>
        </p:spPr>
        <p:txBody>
          <a:bodyPr/>
          <a:lstStyle/>
          <a:p>
            <a:r>
              <a:rPr lang="en-US" dirty="0">
                <a:effectLst>
                  <a:outerShdw blurRad="38100" dist="38100" dir="2700000" algn="tl">
                    <a:srgbClr val="000000">
                      <a:alpha val="43137"/>
                    </a:srgbClr>
                  </a:outerShdw>
                </a:effectLst>
              </a:rPr>
              <a:t>Christine Bui</a:t>
            </a:r>
          </a:p>
          <a:p>
            <a:r>
              <a:rPr lang="en-US" dirty="0">
                <a:effectLst>
                  <a:outerShdw blurRad="38100" dist="38100" dir="2700000" algn="tl">
                    <a:srgbClr val="000000">
                      <a:alpha val="43137"/>
                    </a:srgbClr>
                  </a:outerShdw>
                </a:effectLst>
              </a:rPr>
              <a:t>Duke Global Health Institute / Research Design &amp; Analysis Core </a:t>
            </a:r>
          </a:p>
          <a:p>
            <a:r>
              <a:rPr lang="en-US" dirty="0">
                <a:effectLst>
                  <a:outerShdw blurRad="38100" dist="38100" dir="2700000" algn="tl">
                    <a:srgbClr val="000000">
                      <a:alpha val="43137"/>
                    </a:srgbClr>
                  </a:outerShdw>
                </a:effectLst>
              </a:rPr>
              <a:t>November 21, 2025</a:t>
            </a:r>
          </a:p>
        </p:txBody>
      </p:sp>
      <p:sp>
        <p:nvSpPr>
          <p:cNvPr id="2" name="Title 1">
            <a:extLst>
              <a:ext uri="{FF2B5EF4-FFF2-40B4-BE49-F238E27FC236}">
                <a16:creationId xmlns:a16="http://schemas.microsoft.com/office/drawing/2014/main" id="{5CA30D24-8E8F-4840-9ABE-1E3548F6403F}"/>
              </a:ext>
            </a:extLst>
          </p:cNvPr>
          <p:cNvSpPr>
            <a:spLocks noGrp="1"/>
          </p:cNvSpPr>
          <p:nvPr>
            <p:ph type="title"/>
          </p:nvPr>
        </p:nvSpPr>
        <p:spPr>
          <a:xfrm>
            <a:off x="838200" y="1842659"/>
            <a:ext cx="6400800" cy="1752583"/>
          </a:xfrm>
        </p:spPr>
        <p:txBody>
          <a:bodyPr/>
          <a:lstStyle/>
          <a:p>
            <a:r>
              <a:rPr lang="en-US" sz="2800" dirty="0">
                <a:effectLst>
                  <a:outerShdw blurRad="38100" dist="38100" dir="2700000" algn="tl">
                    <a:srgbClr val="000000">
                      <a:alpha val="43137"/>
                    </a:srgbClr>
                  </a:outerShdw>
                </a:effectLst>
              </a:rPr>
              <a:t>Prevalence and rationale for covariate adjustment in cluster randomized trials: A scoping review</a:t>
            </a:r>
          </a:p>
        </p:txBody>
      </p:sp>
      <p:pic>
        <p:nvPicPr>
          <p:cNvPr id="5" name="Picture 4">
            <a:extLst>
              <a:ext uri="{FF2B5EF4-FFF2-40B4-BE49-F238E27FC236}">
                <a16:creationId xmlns:a16="http://schemas.microsoft.com/office/drawing/2014/main" id="{08698118-BFDA-D28C-8A83-F49B9656C8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6096000"/>
            <a:ext cx="3568700" cy="419100"/>
          </a:xfrm>
          <a:prstGeom prst="rect">
            <a:avLst/>
          </a:prstGeom>
        </p:spPr>
      </p:pic>
    </p:spTree>
    <p:extLst>
      <p:ext uri="{BB962C8B-B14F-4D97-AF65-F5344CB8AC3E}">
        <p14:creationId xmlns:p14="http://schemas.microsoft.com/office/powerpoint/2010/main" val="357205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CB64513-CC57-4E04-A7C6-30825765DF1B}"/>
              </a:ext>
            </a:extLst>
          </p:cNvPr>
          <p:cNvSpPr>
            <a:spLocks noGrp="1"/>
          </p:cNvSpPr>
          <p:nvPr>
            <p:ph type="body" sz="quarter" idx="10"/>
          </p:nvPr>
        </p:nvSpPr>
        <p:spPr/>
        <p:txBody>
          <a:bodyPr/>
          <a:lstStyle/>
          <a:p>
            <a:r>
              <a:rPr lang="en-US" dirty="0">
                <a:effectLst>
                  <a:outerShdw blurRad="38100" dist="38100" dir="2700000" algn="tl">
                    <a:srgbClr val="000000">
                      <a:alpha val="43137"/>
                    </a:srgbClr>
                  </a:outerShdw>
                </a:effectLst>
              </a:rPr>
              <a:t>Overview</a:t>
            </a:r>
            <a:endParaRPr lang="en-US" dirty="0"/>
          </a:p>
        </p:txBody>
      </p:sp>
      <p:sp>
        <p:nvSpPr>
          <p:cNvPr id="6" name="Text Placeholder 5">
            <a:extLst>
              <a:ext uri="{FF2B5EF4-FFF2-40B4-BE49-F238E27FC236}">
                <a16:creationId xmlns:a16="http://schemas.microsoft.com/office/drawing/2014/main" id="{7223E97E-B532-48FB-B1E9-7867B9930353}"/>
              </a:ext>
            </a:extLst>
          </p:cNvPr>
          <p:cNvSpPr>
            <a:spLocks noGrp="1"/>
          </p:cNvSpPr>
          <p:nvPr>
            <p:ph type="body" sz="quarter" idx="11"/>
          </p:nvPr>
        </p:nvSpPr>
        <p:spPr>
          <a:xfrm>
            <a:off x="827809" y="1295400"/>
            <a:ext cx="9144000" cy="5410200"/>
          </a:xfrm>
        </p:spPr>
        <p:txBody>
          <a:bodyPr/>
          <a:lstStyle/>
          <a:p>
            <a:pPr marL="0" indent="0">
              <a:buNone/>
            </a:pPr>
            <a:r>
              <a:rPr lang="en-US" sz="2600" b="1" dirty="0"/>
              <a:t>Introduction &amp; Background</a:t>
            </a:r>
          </a:p>
          <a:p>
            <a:r>
              <a:rPr lang="en-US" sz="1800" dirty="0"/>
              <a:t>What are cluster randomized trials (</a:t>
            </a:r>
            <a:r>
              <a:rPr lang="en-US" sz="1800" dirty="0" err="1"/>
              <a:t>cRCTs</a:t>
            </a:r>
            <a:r>
              <a:rPr lang="en-US" sz="1800" dirty="0"/>
              <a:t>)?</a:t>
            </a:r>
          </a:p>
          <a:p>
            <a:r>
              <a:rPr lang="en-US" sz="1800" dirty="0"/>
              <a:t>What is covariate adjustment?</a:t>
            </a:r>
          </a:p>
          <a:p>
            <a:r>
              <a:rPr lang="en-US" sz="1800" dirty="0"/>
              <a:t>What is known in </a:t>
            </a:r>
            <a:r>
              <a:rPr lang="en-US" sz="1800" dirty="0" err="1"/>
              <a:t>iRCTs</a:t>
            </a:r>
            <a:r>
              <a:rPr lang="en-US" sz="1800" dirty="0"/>
              <a:t> vs </a:t>
            </a:r>
            <a:r>
              <a:rPr lang="en-US" sz="1800" dirty="0" err="1"/>
              <a:t>cRCTs</a:t>
            </a:r>
            <a:r>
              <a:rPr lang="en-US" sz="1800" dirty="0"/>
              <a:t>?</a:t>
            </a:r>
          </a:p>
          <a:p>
            <a:r>
              <a:rPr lang="en-US" sz="1800" dirty="0"/>
              <a:t>Inspiration for this study</a:t>
            </a:r>
          </a:p>
          <a:p>
            <a:r>
              <a:rPr lang="en-US" sz="1800" dirty="0"/>
              <a:t>Why LMICs?</a:t>
            </a:r>
          </a:p>
          <a:p>
            <a:r>
              <a:rPr lang="en-US" sz="1800" dirty="0"/>
              <a:t>Why are we doing this review?</a:t>
            </a:r>
          </a:p>
          <a:p>
            <a:pPr marL="0" indent="0">
              <a:buNone/>
            </a:pPr>
            <a:r>
              <a:rPr lang="en-US" sz="2600" b="1" dirty="0"/>
              <a:t>Procedures &amp; Methods</a:t>
            </a:r>
          </a:p>
          <a:p>
            <a:r>
              <a:rPr lang="en-US" sz="1800" dirty="0"/>
              <a:t>Data source</a:t>
            </a:r>
          </a:p>
          <a:p>
            <a:r>
              <a:rPr lang="en-US" sz="1800" dirty="0"/>
              <a:t>Data extraction form</a:t>
            </a:r>
          </a:p>
          <a:p>
            <a:r>
              <a:rPr lang="en-US" sz="1800" dirty="0"/>
              <a:t>Data extraction process</a:t>
            </a:r>
          </a:p>
          <a:p>
            <a:pPr marL="0" indent="0">
              <a:buNone/>
            </a:pPr>
            <a:r>
              <a:rPr lang="en-US" sz="2600" b="1" dirty="0"/>
              <a:t>Results &amp; Next Steps</a:t>
            </a:r>
          </a:p>
          <a:p>
            <a:r>
              <a:rPr lang="en-US" sz="1800" dirty="0"/>
              <a:t>Results</a:t>
            </a:r>
          </a:p>
          <a:p>
            <a:r>
              <a:rPr lang="en-US" sz="1800" dirty="0"/>
              <a:t>Next steps</a:t>
            </a:r>
          </a:p>
          <a:p>
            <a:pPr marL="0" indent="0">
              <a:buNone/>
            </a:pPr>
            <a:endParaRPr lang="en-US" sz="2000" b="1" dirty="0"/>
          </a:p>
          <a:p>
            <a:pPr marL="0" indent="0">
              <a:buNone/>
            </a:pPr>
            <a:endParaRPr lang="en-US" sz="2900" b="1" dirty="0"/>
          </a:p>
          <a:p>
            <a:pPr marL="0" indent="0">
              <a:buNone/>
            </a:pPr>
            <a:endParaRPr lang="en-US" sz="2000" dirty="0"/>
          </a:p>
          <a:p>
            <a:pPr marL="0" indent="0">
              <a:buNone/>
            </a:pPr>
            <a:endParaRPr lang="en-US" dirty="0"/>
          </a:p>
        </p:txBody>
      </p:sp>
    </p:spTree>
    <p:extLst>
      <p:ext uri="{BB962C8B-B14F-4D97-AF65-F5344CB8AC3E}">
        <p14:creationId xmlns:p14="http://schemas.microsoft.com/office/powerpoint/2010/main" val="2895033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986BEA-190C-464C-1F50-BED3A405C431}"/>
              </a:ext>
            </a:extLst>
          </p:cNvPr>
          <p:cNvSpPr>
            <a:spLocks noGrp="1"/>
          </p:cNvSpPr>
          <p:nvPr>
            <p:ph type="title"/>
          </p:nvPr>
        </p:nvSpPr>
        <p:spPr>
          <a:xfrm>
            <a:off x="838200" y="1981217"/>
            <a:ext cx="6400800" cy="1752583"/>
          </a:xfrm>
        </p:spPr>
        <p:txBody>
          <a:bodyPr/>
          <a:lstStyle/>
          <a:p>
            <a:r>
              <a:rPr lang="en-US" dirty="0"/>
              <a:t>Introduction &amp; Background</a:t>
            </a:r>
          </a:p>
        </p:txBody>
      </p:sp>
    </p:spTree>
    <p:extLst>
      <p:ext uri="{BB962C8B-B14F-4D97-AF65-F5344CB8AC3E}">
        <p14:creationId xmlns:p14="http://schemas.microsoft.com/office/powerpoint/2010/main" val="1401098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D9D143-5499-4F9D-359C-9467727D1F5D}"/>
              </a:ext>
            </a:extLst>
          </p:cNvPr>
          <p:cNvSpPr>
            <a:spLocks noGrp="1"/>
          </p:cNvSpPr>
          <p:nvPr>
            <p:ph type="body" sz="quarter" idx="10"/>
          </p:nvPr>
        </p:nvSpPr>
        <p:spPr/>
        <p:txBody>
          <a:bodyPr/>
          <a:lstStyle/>
          <a:p>
            <a:r>
              <a:rPr lang="en-US" dirty="0"/>
              <a:t>What are cluster randomized trials (</a:t>
            </a:r>
            <a:r>
              <a:rPr lang="en-US" dirty="0" err="1"/>
              <a:t>cRCTs</a:t>
            </a:r>
            <a:r>
              <a:rPr lang="en-US" dirty="0"/>
              <a:t>)? </a:t>
            </a:r>
          </a:p>
        </p:txBody>
      </p:sp>
      <p:sp>
        <p:nvSpPr>
          <p:cNvPr id="3" name="Text Placeholder 2">
            <a:extLst>
              <a:ext uri="{FF2B5EF4-FFF2-40B4-BE49-F238E27FC236}">
                <a16:creationId xmlns:a16="http://schemas.microsoft.com/office/drawing/2014/main" id="{859B8615-5C05-218F-5D5C-E0D816BC4499}"/>
              </a:ext>
            </a:extLst>
          </p:cNvPr>
          <p:cNvSpPr>
            <a:spLocks noGrp="1"/>
          </p:cNvSpPr>
          <p:nvPr>
            <p:ph type="body" sz="quarter" idx="11"/>
          </p:nvPr>
        </p:nvSpPr>
        <p:spPr>
          <a:xfrm>
            <a:off x="457200" y="1371600"/>
            <a:ext cx="6324600" cy="4876799"/>
          </a:xfrm>
        </p:spPr>
        <p:txBody>
          <a:bodyPr/>
          <a:lstStyle/>
          <a:p>
            <a:r>
              <a:rPr lang="en-US" dirty="0"/>
              <a:t>Entire groups (clusters) randomized, not individuals</a:t>
            </a:r>
          </a:p>
          <a:p>
            <a:pPr lvl="1"/>
            <a:r>
              <a:rPr lang="en-US" dirty="0"/>
              <a:t>Examples: schools, clinics, villages</a:t>
            </a:r>
          </a:p>
          <a:p>
            <a:r>
              <a:rPr lang="en-US" dirty="0"/>
              <a:t>Reduces contamination</a:t>
            </a:r>
          </a:p>
          <a:p>
            <a:r>
              <a:rPr lang="en-US" dirty="0"/>
              <a:t>Often used in public health settings</a:t>
            </a:r>
          </a:p>
          <a:p>
            <a:r>
              <a:rPr lang="en-US" dirty="0"/>
              <a:t>Fewer randomization units → covariate imbalance more likely </a:t>
            </a:r>
          </a:p>
        </p:txBody>
      </p:sp>
      <p:pic>
        <p:nvPicPr>
          <p:cNvPr id="1026" name="Picture 2" descr="A group of circles with black dots with Ice hockey rink in the background&#10;&#10;AI-generated content may be incorrect.">
            <a:extLst>
              <a:ext uri="{FF2B5EF4-FFF2-40B4-BE49-F238E27FC236}">
                <a16:creationId xmlns:a16="http://schemas.microsoft.com/office/drawing/2014/main" id="{9261B59A-25FA-155B-2E7D-0573D5F28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477" y="2209800"/>
            <a:ext cx="5647664" cy="3792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142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CABD1B-73DF-83D9-D523-715799D27785}"/>
              </a:ext>
            </a:extLst>
          </p:cNvPr>
          <p:cNvSpPr>
            <a:spLocks noGrp="1"/>
          </p:cNvSpPr>
          <p:nvPr>
            <p:ph type="body" sz="quarter" idx="10"/>
          </p:nvPr>
        </p:nvSpPr>
        <p:spPr/>
        <p:txBody>
          <a:bodyPr/>
          <a:lstStyle/>
          <a:p>
            <a:r>
              <a:rPr lang="en-US" dirty="0"/>
              <a:t>What is covariate adjustment?</a:t>
            </a:r>
          </a:p>
        </p:txBody>
      </p:sp>
      <p:sp>
        <p:nvSpPr>
          <p:cNvPr id="3" name="Text Placeholder 2">
            <a:extLst>
              <a:ext uri="{FF2B5EF4-FFF2-40B4-BE49-F238E27FC236}">
                <a16:creationId xmlns:a16="http://schemas.microsoft.com/office/drawing/2014/main" id="{69FDB59E-0122-550F-EFB4-AFB79043A557}"/>
              </a:ext>
            </a:extLst>
          </p:cNvPr>
          <p:cNvSpPr>
            <a:spLocks noGrp="1"/>
          </p:cNvSpPr>
          <p:nvPr>
            <p:ph type="body" sz="quarter" idx="11"/>
          </p:nvPr>
        </p:nvSpPr>
        <p:spPr>
          <a:xfrm>
            <a:off x="304800" y="1905000"/>
            <a:ext cx="10820400" cy="4267201"/>
          </a:xfrm>
        </p:spPr>
        <p:txBody>
          <a:bodyPr/>
          <a:lstStyle/>
          <a:p>
            <a:r>
              <a:rPr lang="en-US" dirty="0"/>
              <a:t>Adding baseline variables to statistical models estimating the treatment effect on outcomes</a:t>
            </a:r>
          </a:p>
          <a:p>
            <a:r>
              <a:rPr lang="en-US" dirty="0"/>
              <a:t>Why?</a:t>
            </a:r>
          </a:p>
          <a:p>
            <a:pPr lvl="1"/>
            <a:r>
              <a:rPr lang="en-US" dirty="0"/>
              <a:t>Improves precision  →  increases statistical power</a:t>
            </a:r>
          </a:p>
          <a:p>
            <a:pPr lvl="1"/>
            <a:r>
              <a:rPr lang="en-US" dirty="0"/>
              <a:t>Adjusts for design variables</a:t>
            </a:r>
          </a:p>
          <a:p>
            <a:pPr lvl="1"/>
            <a:r>
              <a:rPr lang="en-US" dirty="0"/>
              <a:t>Handles chance covariate imbalances</a:t>
            </a:r>
          </a:p>
        </p:txBody>
      </p:sp>
      <p:sp>
        <p:nvSpPr>
          <p:cNvPr id="4" name="TextBox 3">
            <a:extLst>
              <a:ext uri="{FF2B5EF4-FFF2-40B4-BE49-F238E27FC236}">
                <a16:creationId xmlns:a16="http://schemas.microsoft.com/office/drawing/2014/main" id="{59E83EF1-5A15-0B66-78F2-40193C1E849D}"/>
              </a:ext>
            </a:extLst>
          </p:cNvPr>
          <p:cNvSpPr txBox="1"/>
          <p:nvPr/>
        </p:nvSpPr>
        <p:spPr>
          <a:xfrm>
            <a:off x="304800" y="6248400"/>
            <a:ext cx="3048000" cy="369332"/>
          </a:xfrm>
          <a:prstGeom prst="rect">
            <a:avLst/>
          </a:prstGeom>
          <a:noFill/>
        </p:spPr>
        <p:txBody>
          <a:bodyPr wrap="square" rtlCol="0">
            <a:spAutoFit/>
          </a:bodyPr>
          <a:lstStyle/>
          <a:p>
            <a:r>
              <a:rPr lang="en-US" i="1" dirty="0"/>
              <a:t>Pocock et al. 2002</a:t>
            </a:r>
          </a:p>
        </p:txBody>
      </p:sp>
    </p:spTree>
    <p:extLst>
      <p:ext uri="{BB962C8B-B14F-4D97-AF65-F5344CB8AC3E}">
        <p14:creationId xmlns:p14="http://schemas.microsoft.com/office/powerpoint/2010/main" val="1627044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8A6F3-EE32-6B4B-4223-C8252757354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950442B-360B-3B3D-0E59-7448C9CAE444}"/>
              </a:ext>
            </a:extLst>
          </p:cNvPr>
          <p:cNvSpPr>
            <a:spLocks noGrp="1"/>
          </p:cNvSpPr>
          <p:nvPr>
            <p:ph type="body" sz="quarter" idx="10"/>
          </p:nvPr>
        </p:nvSpPr>
        <p:spPr/>
        <p:txBody>
          <a:bodyPr/>
          <a:lstStyle/>
          <a:p>
            <a:r>
              <a:rPr lang="en-US" dirty="0"/>
              <a:t>What is known in </a:t>
            </a:r>
            <a:r>
              <a:rPr lang="en-US" dirty="0" err="1"/>
              <a:t>iRCTs</a:t>
            </a:r>
            <a:r>
              <a:rPr lang="en-US" dirty="0"/>
              <a:t> vs. </a:t>
            </a:r>
            <a:r>
              <a:rPr lang="en-US" dirty="0" err="1"/>
              <a:t>cRCTs</a:t>
            </a:r>
            <a:r>
              <a:rPr lang="en-US" dirty="0"/>
              <a:t>?</a:t>
            </a:r>
          </a:p>
        </p:txBody>
      </p:sp>
      <p:graphicFrame>
        <p:nvGraphicFramePr>
          <p:cNvPr id="4" name="Table 3">
            <a:extLst>
              <a:ext uri="{FF2B5EF4-FFF2-40B4-BE49-F238E27FC236}">
                <a16:creationId xmlns:a16="http://schemas.microsoft.com/office/drawing/2014/main" id="{353C9C1B-F4AE-CD38-06D5-63A8549CDDD9}"/>
              </a:ext>
            </a:extLst>
          </p:cNvPr>
          <p:cNvGraphicFramePr>
            <a:graphicFrameLocks noGrp="1"/>
          </p:cNvGraphicFramePr>
          <p:nvPr>
            <p:extLst>
              <p:ext uri="{D42A27DB-BD31-4B8C-83A1-F6EECF244321}">
                <p14:modId xmlns:p14="http://schemas.microsoft.com/office/powerpoint/2010/main" val="991431726"/>
              </p:ext>
            </p:extLst>
          </p:nvPr>
        </p:nvGraphicFramePr>
        <p:xfrm>
          <a:off x="495300" y="1600200"/>
          <a:ext cx="11201400" cy="4419601"/>
        </p:xfrm>
        <a:graphic>
          <a:graphicData uri="http://schemas.openxmlformats.org/drawingml/2006/table">
            <a:tbl>
              <a:tblPr firstRow="1" bandRow="1">
                <a:tableStyleId>{5C22544A-7EE6-4342-B048-85BDC9FD1C3A}</a:tableStyleId>
              </a:tblPr>
              <a:tblGrid>
                <a:gridCol w="5600700">
                  <a:extLst>
                    <a:ext uri="{9D8B030D-6E8A-4147-A177-3AD203B41FA5}">
                      <a16:colId xmlns:a16="http://schemas.microsoft.com/office/drawing/2014/main" val="524887152"/>
                    </a:ext>
                  </a:extLst>
                </a:gridCol>
                <a:gridCol w="5600700">
                  <a:extLst>
                    <a:ext uri="{9D8B030D-6E8A-4147-A177-3AD203B41FA5}">
                      <a16:colId xmlns:a16="http://schemas.microsoft.com/office/drawing/2014/main" val="1054821330"/>
                    </a:ext>
                  </a:extLst>
                </a:gridCol>
              </a:tblGrid>
              <a:tr h="511300">
                <a:tc>
                  <a:txBody>
                    <a:bodyPr/>
                    <a:lstStyle/>
                    <a:p>
                      <a:r>
                        <a:rPr lang="en-US" sz="2400" dirty="0"/>
                        <a:t>What We Know (From </a:t>
                      </a:r>
                      <a:r>
                        <a:rPr lang="en-US" sz="2400" dirty="0" err="1"/>
                        <a:t>iRCTs</a:t>
                      </a:r>
                      <a:r>
                        <a:rPr lang="en-US" sz="2400" dirty="0"/>
                        <a:t>)</a:t>
                      </a:r>
                    </a:p>
                  </a:txBody>
                  <a:tcPr/>
                </a:tc>
                <a:tc>
                  <a:txBody>
                    <a:bodyPr/>
                    <a:lstStyle/>
                    <a:p>
                      <a:r>
                        <a:rPr lang="en-US" sz="2400" dirty="0"/>
                        <a:t>What We Don’t Know (Gaps in </a:t>
                      </a:r>
                      <a:r>
                        <a:rPr lang="en-US" sz="2400" dirty="0" err="1"/>
                        <a:t>cRCTs</a:t>
                      </a:r>
                      <a:r>
                        <a:rPr lang="en-US" sz="2400" dirty="0"/>
                        <a:t>)</a:t>
                      </a:r>
                    </a:p>
                  </a:txBody>
                  <a:tcPr/>
                </a:tc>
                <a:extLst>
                  <a:ext uri="{0D108BD9-81ED-4DB2-BD59-A6C34878D82A}">
                    <a16:rowId xmlns:a16="http://schemas.microsoft.com/office/drawing/2014/main" val="4053508377"/>
                  </a:ext>
                </a:extLst>
              </a:tr>
              <a:tr h="882520">
                <a:tc>
                  <a:txBody>
                    <a:bodyPr/>
                    <a:lstStyle/>
                    <a:p>
                      <a:r>
                        <a:rPr lang="en-US" sz="2200" dirty="0"/>
                        <a:t>Existing guidance and literature on covariate adjustment</a:t>
                      </a:r>
                    </a:p>
                  </a:txBody>
                  <a:tcPr/>
                </a:tc>
                <a:tc>
                  <a:txBody>
                    <a:bodyPr/>
                    <a:lstStyle/>
                    <a:p>
                      <a:r>
                        <a:rPr lang="en-US" sz="2200" dirty="0"/>
                        <a:t>Less guidance specific to </a:t>
                      </a:r>
                      <a:r>
                        <a:rPr lang="en-US" sz="2200" dirty="0" err="1"/>
                        <a:t>cRCTs</a:t>
                      </a:r>
                      <a:endParaRPr lang="en-US" sz="2200" dirty="0"/>
                    </a:p>
                  </a:txBody>
                  <a:tcPr/>
                </a:tc>
                <a:extLst>
                  <a:ext uri="{0D108BD9-81ED-4DB2-BD59-A6C34878D82A}">
                    <a16:rowId xmlns:a16="http://schemas.microsoft.com/office/drawing/2014/main" val="459604037"/>
                  </a:ext>
                </a:extLst>
              </a:tr>
              <a:tr h="882520">
                <a:tc>
                  <a:txBody>
                    <a:bodyPr/>
                    <a:lstStyle/>
                    <a:p>
                      <a:r>
                        <a:rPr lang="en-US" sz="2200" dirty="0"/>
                        <a:t>Explanations of when, why, and how to adjust for covariates</a:t>
                      </a:r>
                    </a:p>
                  </a:txBody>
                  <a:tcPr/>
                </a:tc>
                <a:tc>
                  <a:txBody>
                    <a:bodyPr/>
                    <a:lstStyle/>
                    <a:p>
                      <a:r>
                        <a:rPr lang="en-US" sz="2200" dirty="0"/>
                        <a:t>Limited systematic reviews examining covariate adjustment practices</a:t>
                      </a:r>
                    </a:p>
                  </a:txBody>
                  <a:tcPr/>
                </a:tc>
                <a:extLst>
                  <a:ext uri="{0D108BD9-81ED-4DB2-BD59-A6C34878D82A}">
                    <a16:rowId xmlns:a16="http://schemas.microsoft.com/office/drawing/2014/main" val="4171109380"/>
                  </a:ext>
                </a:extLst>
              </a:tr>
              <a:tr h="1260741">
                <a:tc>
                  <a:txBody>
                    <a:bodyPr/>
                    <a:lstStyle/>
                    <a:p>
                      <a:r>
                        <a:rPr lang="en-US" sz="2200" dirty="0"/>
                        <a:t>Established best practices for choosing covariates and incorporating them into models</a:t>
                      </a:r>
                    </a:p>
                  </a:txBody>
                  <a:tcPr/>
                </a:tc>
                <a:tc>
                  <a:txBody>
                    <a:bodyPr/>
                    <a:lstStyle/>
                    <a:p>
                      <a:r>
                        <a:rPr lang="en-US" sz="2200" dirty="0"/>
                        <a:t>Lack of clarity of covariates being prespecified and adjusted for</a:t>
                      </a:r>
                    </a:p>
                  </a:txBody>
                  <a:tcPr/>
                </a:tc>
                <a:extLst>
                  <a:ext uri="{0D108BD9-81ED-4DB2-BD59-A6C34878D82A}">
                    <a16:rowId xmlns:a16="http://schemas.microsoft.com/office/drawing/2014/main" val="3619129871"/>
                  </a:ext>
                </a:extLst>
              </a:tr>
              <a:tr h="882520">
                <a:tc>
                  <a:txBody>
                    <a:bodyPr/>
                    <a:lstStyle/>
                    <a:p>
                      <a:r>
                        <a:rPr lang="en-US" sz="2200" dirty="0"/>
                        <a:t>Recommendations are frequently updated and adopted in the </a:t>
                      </a:r>
                      <a:r>
                        <a:rPr lang="en-US" sz="2200" dirty="0" err="1"/>
                        <a:t>iRCT</a:t>
                      </a:r>
                      <a:r>
                        <a:rPr lang="en-US" sz="2200" dirty="0"/>
                        <a:t> space</a:t>
                      </a:r>
                    </a:p>
                  </a:txBody>
                  <a:tcPr/>
                </a:tc>
                <a:tc>
                  <a:txBody>
                    <a:bodyPr/>
                    <a:lstStyle/>
                    <a:p>
                      <a:r>
                        <a:rPr lang="en-US" sz="2200" dirty="0"/>
                        <a:t>Last review was based on older trials</a:t>
                      </a:r>
                    </a:p>
                  </a:txBody>
                  <a:tcPr/>
                </a:tc>
                <a:extLst>
                  <a:ext uri="{0D108BD9-81ED-4DB2-BD59-A6C34878D82A}">
                    <a16:rowId xmlns:a16="http://schemas.microsoft.com/office/drawing/2014/main" val="4092768369"/>
                  </a:ext>
                </a:extLst>
              </a:tr>
            </a:tbl>
          </a:graphicData>
        </a:graphic>
      </p:graphicFrame>
    </p:spTree>
    <p:extLst>
      <p:ext uri="{BB962C8B-B14F-4D97-AF65-F5344CB8AC3E}">
        <p14:creationId xmlns:p14="http://schemas.microsoft.com/office/powerpoint/2010/main" val="762653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D73595-9145-4D22-4C34-FC9843A613CB}"/>
              </a:ext>
            </a:extLst>
          </p:cNvPr>
          <p:cNvSpPr>
            <a:spLocks noGrp="1"/>
          </p:cNvSpPr>
          <p:nvPr>
            <p:ph type="body" sz="quarter" idx="10"/>
          </p:nvPr>
        </p:nvSpPr>
        <p:spPr/>
        <p:txBody>
          <a:bodyPr/>
          <a:lstStyle/>
          <a:p>
            <a:r>
              <a:rPr lang="en-US" dirty="0"/>
              <a:t>Inspiration for this study</a:t>
            </a:r>
          </a:p>
        </p:txBody>
      </p:sp>
      <p:sp>
        <p:nvSpPr>
          <p:cNvPr id="3" name="Text Placeholder 2">
            <a:extLst>
              <a:ext uri="{FF2B5EF4-FFF2-40B4-BE49-F238E27FC236}">
                <a16:creationId xmlns:a16="http://schemas.microsoft.com/office/drawing/2014/main" id="{100F11DB-2FB1-1A90-B59A-8138ED3AAEF3}"/>
              </a:ext>
            </a:extLst>
          </p:cNvPr>
          <p:cNvSpPr>
            <a:spLocks noGrp="1"/>
          </p:cNvSpPr>
          <p:nvPr>
            <p:ph type="body" sz="quarter" idx="11"/>
          </p:nvPr>
        </p:nvSpPr>
        <p:spPr>
          <a:xfrm>
            <a:off x="304800" y="1905000"/>
            <a:ext cx="6781800" cy="4876799"/>
          </a:xfrm>
        </p:spPr>
        <p:txBody>
          <a:bodyPr/>
          <a:lstStyle/>
          <a:p>
            <a:r>
              <a:rPr lang="en-US" dirty="0"/>
              <a:t>The </a:t>
            </a:r>
            <a:r>
              <a:rPr lang="en-US" dirty="0" err="1"/>
              <a:t>Bachpan</a:t>
            </a:r>
            <a:r>
              <a:rPr lang="en-US" dirty="0"/>
              <a:t> Study</a:t>
            </a:r>
          </a:p>
          <a:p>
            <a:pPr lvl="1"/>
            <a:r>
              <a:rPr lang="en-US" dirty="0"/>
              <a:t>Cluster randomized trial in Pakistan</a:t>
            </a:r>
          </a:p>
          <a:p>
            <a:pPr lvl="1"/>
            <a:r>
              <a:rPr lang="en-US" dirty="0"/>
              <a:t>Mental health intervention for mothers </a:t>
            </a:r>
          </a:p>
          <a:p>
            <a:pPr lvl="1"/>
            <a:r>
              <a:rPr lang="en-US" dirty="0"/>
              <a:t>Raised questions:</a:t>
            </a:r>
          </a:p>
          <a:p>
            <a:pPr lvl="2"/>
            <a:r>
              <a:rPr lang="en-US" dirty="0"/>
              <a:t>What covariates are adjusted for in low- and middle-income country (LMIC) cluster trials?</a:t>
            </a:r>
          </a:p>
          <a:p>
            <a:pPr lvl="2"/>
            <a:r>
              <a:rPr lang="en-US" dirty="0"/>
              <a:t>Do papers explain why they adjust?</a:t>
            </a:r>
          </a:p>
        </p:txBody>
      </p:sp>
      <p:pic>
        <p:nvPicPr>
          <p:cNvPr id="5" name="Picture 4">
            <a:extLst>
              <a:ext uri="{FF2B5EF4-FFF2-40B4-BE49-F238E27FC236}">
                <a16:creationId xmlns:a16="http://schemas.microsoft.com/office/drawing/2014/main" id="{640221D7-FE46-6991-B705-F5654FE2A266}"/>
              </a:ext>
            </a:extLst>
          </p:cNvPr>
          <p:cNvPicPr>
            <a:picLocks noChangeAspect="1"/>
          </p:cNvPicPr>
          <p:nvPr/>
        </p:nvPicPr>
        <p:blipFill>
          <a:blip r:embed="rId3"/>
          <a:stretch>
            <a:fillRect/>
          </a:stretch>
        </p:blipFill>
        <p:spPr>
          <a:xfrm>
            <a:off x="7522578" y="1905000"/>
            <a:ext cx="4364622" cy="2144535"/>
          </a:xfrm>
          <a:prstGeom prst="rect">
            <a:avLst/>
          </a:prstGeom>
        </p:spPr>
      </p:pic>
      <p:sp>
        <p:nvSpPr>
          <p:cNvPr id="6" name="TextBox 5">
            <a:extLst>
              <a:ext uri="{FF2B5EF4-FFF2-40B4-BE49-F238E27FC236}">
                <a16:creationId xmlns:a16="http://schemas.microsoft.com/office/drawing/2014/main" id="{5FE5CC76-B989-B041-5095-8A53FC237826}"/>
              </a:ext>
            </a:extLst>
          </p:cNvPr>
          <p:cNvSpPr txBox="1"/>
          <p:nvPr/>
        </p:nvSpPr>
        <p:spPr>
          <a:xfrm>
            <a:off x="304800" y="6248400"/>
            <a:ext cx="3048000" cy="369332"/>
          </a:xfrm>
          <a:prstGeom prst="rect">
            <a:avLst/>
          </a:prstGeom>
          <a:noFill/>
        </p:spPr>
        <p:txBody>
          <a:bodyPr wrap="square" rtlCol="0">
            <a:spAutoFit/>
          </a:bodyPr>
          <a:lstStyle/>
          <a:p>
            <a:r>
              <a:rPr lang="en-US" i="1" dirty="0" err="1"/>
              <a:t>Maselko</a:t>
            </a:r>
            <a:r>
              <a:rPr lang="en-US" i="1" dirty="0"/>
              <a:t> et al. 2020</a:t>
            </a:r>
          </a:p>
        </p:txBody>
      </p:sp>
    </p:spTree>
    <p:extLst>
      <p:ext uri="{BB962C8B-B14F-4D97-AF65-F5344CB8AC3E}">
        <p14:creationId xmlns:p14="http://schemas.microsoft.com/office/powerpoint/2010/main" val="3367163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9CDDE-109D-83A8-2396-A3C7F851EA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3A2CA5-E951-4691-839A-5892E8C22815}"/>
              </a:ext>
            </a:extLst>
          </p:cNvPr>
          <p:cNvSpPr>
            <a:spLocks noGrp="1"/>
          </p:cNvSpPr>
          <p:nvPr>
            <p:ph type="body" sz="quarter" idx="10"/>
          </p:nvPr>
        </p:nvSpPr>
        <p:spPr/>
        <p:txBody>
          <a:bodyPr/>
          <a:lstStyle/>
          <a:p>
            <a:r>
              <a:rPr lang="en-US" dirty="0"/>
              <a:t>Why LMICs? </a:t>
            </a:r>
          </a:p>
        </p:txBody>
      </p:sp>
      <p:graphicFrame>
        <p:nvGraphicFramePr>
          <p:cNvPr id="7" name="Table 6">
            <a:extLst>
              <a:ext uri="{FF2B5EF4-FFF2-40B4-BE49-F238E27FC236}">
                <a16:creationId xmlns:a16="http://schemas.microsoft.com/office/drawing/2014/main" id="{958E135E-8844-A411-4450-0018479E4A2E}"/>
              </a:ext>
            </a:extLst>
          </p:cNvPr>
          <p:cNvGraphicFramePr>
            <a:graphicFrameLocks noGrp="1"/>
          </p:cNvGraphicFramePr>
          <p:nvPr>
            <p:extLst>
              <p:ext uri="{D42A27DB-BD31-4B8C-83A1-F6EECF244321}">
                <p14:modId xmlns:p14="http://schemas.microsoft.com/office/powerpoint/2010/main" val="3249047283"/>
              </p:ext>
            </p:extLst>
          </p:nvPr>
        </p:nvGraphicFramePr>
        <p:xfrm>
          <a:off x="1028700" y="2133600"/>
          <a:ext cx="10134600" cy="3124200"/>
        </p:xfrm>
        <a:graphic>
          <a:graphicData uri="http://schemas.openxmlformats.org/drawingml/2006/table">
            <a:tbl>
              <a:tblPr firstRow="1" bandRow="1">
                <a:tableStyleId>{5C22544A-7EE6-4342-B048-85BDC9FD1C3A}</a:tableStyleId>
              </a:tblPr>
              <a:tblGrid>
                <a:gridCol w="3378200">
                  <a:extLst>
                    <a:ext uri="{9D8B030D-6E8A-4147-A177-3AD203B41FA5}">
                      <a16:colId xmlns:a16="http://schemas.microsoft.com/office/drawing/2014/main" val="2506703496"/>
                    </a:ext>
                  </a:extLst>
                </a:gridCol>
                <a:gridCol w="3378200">
                  <a:extLst>
                    <a:ext uri="{9D8B030D-6E8A-4147-A177-3AD203B41FA5}">
                      <a16:colId xmlns:a16="http://schemas.microsoft.com/office/drawing/2014/main" val="3012685591"/>
                    </a:ext>
                  </a:extLst>
                </a:gridCol>
                <a:gridCol w="3378200">
                  <a:extLst>
                    <a:ext uri="{9D8B030D-6E8A-4147-A177-3AD203B41FA5}">
                      <a16:colId xmlns:a16="http://schemas.microsoft.com/office/drawing/2014/main" val="3447969994"/>
                    </a:ext>
                  </a:extLst>
                </a:gridCol>
              </a:tblGrid>
              <a:tr h="1348340">
                <a:tc>
                  <a:txBody>
                    <a:bodyPr/>
                    <a:lstStyle/>
                    <a:p>
                      <a:r>
                        <a:rPr lang="en-US" sz="2400" dirty="0"/>
                        <a:t>Many LMIC Trials</a:t>
                      </a:r>
                    </a:p>
                  </a:txBody>
                  <a:tcPr/>
                </a:tc>
                <a:tc>
                  <a:txBody>
                    <a:bodyPr/>
                    <a:lstStyle/>
                    <a:p>
                      <a:r>
                        <a:rPr lang="en-US" sz="2400" dirty="0"/>
                        <a:t>Variation in Methods</a:t>
                      </a:r>
                    </a:p>
                  </a:txBody>
                  <a:tcPr/>
                </a:tc>
                <a:tc>
                  <a:txBody>
                    <a:bodyPr/>
                    <a:lstStyle/>
                    <a:p>
                      <a:r>
                        <a:rPr lang="en-US" sz="2400" dirty="0"/>
                        <a:t>Gaps in Reporting</a:t>
                      </a:r>
                    </a:p>
                  </a:txBody>
                  <a:tcPr/>
                </a:tc>
                <a:extLst>
                  <a:ext uri="{0D108BD9-81ED-4DB2-BD59-A6C34878D82A}">
                    <a16:rowId xmlns:a16="http://schemas.microsoft.com/office/drawing/2014/main" val="241374150"/>
                  </a:ext>
                </a:extLst>
              </a:tr>
              <a:tr h="1775860">
                <a:tc>
                  <a:txBody>
                    <a:bodyPr/>
                    <a:lstStyle/>
                    <a:p>
                      <a:r>
                        <a:rPr lang="en-US" sz="2200" dirty="0"/>
                        <a:t>LMICs conduct a large number of community and public-health </a:t>
                      </a:r>
                      <a:r>
                        <a:rPr lang="en-US" sz="2200" dirty="0" err="1"/>
                        <a:t>cRCTs</a:t>
                      </a:r>
                      <a:endParaRPr lang="en-US" sz="2200" dirty="0"/>
                    </a:p>
                  </a:txBody>
                  <a:tcPr/>
                </a:tc>
                <a:tc>
                  <a:txBody>
                    <a:bodyPr/>
                    <a:lstStyle/>
                    <a:p>
                      <a:r>
                        <a:rPr lang="en-US" sz="2200" dirty="0"/>
                        <a:t>Methods and adjustment practices differ</a:t>
                      </a:r>
                    </a:p>
                  </a:txBody>
                  <a:tcPr/>
                </a:tc>
                <a:tc>
                  <a:txBody>
                    <a:bodyPr/>
                    <a:lstStyle/>
                    <a:p>
                      <a:r>
                        <a:rPr lang="en-US" sz="2200" dirty="0"/>
                        <a:t>Reporting on analysis decisions are inconsistent, making it unclear what was adjusted for</a:t>
                      </a:r>
                    </a:p>
                  </a:txBody>
                  <a:tcPr/>
                </a:tc>
                <a:extLst>
                  <a:ext uri="{0D108BD9-81ED-4DB2-BD59-A6C34878D82A}">
                    <a16:rowId xmlns:a16="http://schemas.microsoft.com/office/drawing/2014/main" val="3121449759"/>
                  </a:ext>
                </a:extLst>
              </a:tr>
            </a:tbl>
          </a:graphicData>
        </a:graphic>
      </p:graphicFrame>
      <p:sp>
        <p:nvSpPr>
          <p:cNvPr id="8" name="TextBox 7">
            <a:extLst>
              <a:ext uri="{FF2B5EF4-FFF2-40B4-BE49-F238E27FC236}">
                <a16:creationId xmlns:a16="http://schemas.microsoft.com/office/drawing/2014/main" id="{DAD08464-C755-5546-8E3D-7172C1FC1E92}"/>
              </a:ext>
            </a:extLst>
          </p:cNvPr>
          <p:cNvSpPr txBox="1"/>
          <p:nvPr/>
        </p:nvSpPr>
        <p:spPr>
          <a:xfrm>
            <a:off x="304800" y="6248400"/>
            <a:ext cx="3048000" cy="369332"/>
          </a:xfrm>
          <a:prstGeom prst="rect">
            <a:avLst/>
          </a:prstGeom>
          <a:noFill/>
        </p:spPr>
        <p:txBody>
          <a:bodyPr wrap="square" rtlCol="0">
            <a:spAutoFit/>
          </a:bodyPr>
          <a:lstStyle/>
          <a:p>
            <a:r>
              <a:rPr lang="en-US" i="1" dirty="0"/>
              <a:t>Goldstein et al. 2024</a:t>
            </a:r>
          </a:p>
        </p:txBody>
      </p:sp>
    </p:spTree>
    <p:extLst>
      <p:ext uri="{BB962C8B-B14F-4D97-AF65-F5344CB8AC3E}">
        <p14:creationId xmlns:p14="http://schemas.microsoft.com/office/powerpoint/2010/main" val="3157773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B392F-F712-5890-D735-06208F6B207A}"/>
              </a:ext>
            </a:extLst>
          </p:cNvPr>
          <p:cNvSpPr>
            <a:spLocks noGrp="1"/>
          </p:cNvSpPr>
          <p:nvPr>
            <p:ph type="body" sz="quarter" idx="10"/>
          </p:nvPr>
        </p:nvSpPr>
        <p:spPr/>
        <p:txBody>
          <a:bodyPr/>
          <a:lstStyle/>
          <a:p>
            <a:r>
              <a:rPr lang="en-US" dirty="0"/>
              <a:t>Why are we doing this review?</a:t>
            </a:r>
          </a:p>
        </p:txBody>
      </p:sp>
      <p:sp>
        <p:nvSpPr>
          <p:cNvPr id="3" name="Text Placeholder 2">
            <a:extLst>
              <a:ext uri="{FF2B5EF4-FFF2-40B4-BE49-F238E27FC236}">
                <a16:creationId xmlns:a16="http://schemas.microsoft.com/office/drawing/2014/main" id="{00D4BDE2-4250-6C53-8A46-F22BE1A8842D}"/>
              </a:ext>
            </a:extLst>
          </p:cNvPr>
          <p:cNvSpPr>
            <a:spLocks noGrp="1"/>
          </p:cNvSpPr>
          <p:nvPr>
            <p:ph type="body" sz="quarter" idx="11"/>
          </p:nvPr>
        </p:nvSpPr>
        <p:spPr>
          <a:xfrm>
            <a:off x="304800" y="1828799"/>
            <a:ext cx="9677400" cy="3581401"/>
          </a:xfrm>
        </p:spPr>
        <p:txBody>
          <a:bodyPr/>
          <a:lstStyle/>
          <a:p>
            <a:r>
              <a:rPr lang="en-US" dirty="0"/>
              <a:t>Last </a:t>
            </a:r>
            <a:r>
              <a:rPr lang="en-US" dirty="0" err="1"/>
              <a:t>cRCT</a:t>
            </a:r>
            <a:r>
              <a:rPr lang="en-US" dirty="0"/>
              <a:t> covariate adjustment review was 10+ years ago</a:t>
            </a:r>
          </a:p>
          <a:p>
            <a:pPr lvl="1"/>
            <a:r>
              <a:rPr lang="en-US" dirty="0"/>
              <a:t>Used pre-2010 articles</a:t>
            </a:r>
          </a:p>
          <a:p>
            <a:pPr lvl="1"/>
            <a:r>
              <a:rPr lang="en-US" dirty="0"/>
              <a:t>No clear understanding of current covariate adjustment practices in cluster randomized trials</a:t>
            </a:r>
          </a:p>
          <a:p>
            <a:r>
              <a:rPr lang="en-US" dirty="0"/>
              <a:t>Review of current practices can inform future work on guidance/recommendation documents</a:t>
            </a:r>
          </a:p>
        </p:txBody>
      </p:sp>
      <p:sp>
        <p:nvSpPr>
          <p:cNvPr id="5" name="TextBox 4">
            <a:extLst>
              <a:ext uri="{FF2B5EF4-FFF2-40B4-BE49-F238E27FC236}">
                <a16:creationId xmlns:a16="http://schemas.microsoft.com/office/drawing/2014/main" id="{0FE042F0-0DFA-0794-8B72-9B4099CE2CBA}"/>
              </a:ext>
            </a:extLst>
          </p:cNvPr>
          <p:cNvSpPr txBox="1"/>
          <p:nvPr/>
        </p:nvSpPr>
        <p:spPr>
          <a:xfrm>
            <a:off x="304800" y="6248400"/>
            <a:ext cx="3048000" cy="369332"/>
          </a:xfrm>
          <a:prstGeom prst="rect">
            <a:avLst/>
          </a:prstGeom>
          <a:noFill/>
        </p:spPr>
        <p:txBody>
          <a:bodyPr wrap="square" rtlCol="0">
            <a:spAutoFit/>
          </a:bodyPr>
          <a:lstStyle/>
          <a:p>
            <a:r>
              <a:rPr lang="en-US" i="1" dirty="0"/>
              <a:t>Wright et al. 2015</a:t>
            </a:r>
          </a:p>
        </p:txBody>
      </p:sp>
    </p:spTree>
    <p:extLst>
      <p:ext uri="{BB962C8B-B14F-4D97-AF65-F5344CB8AC3E}">
        <p14:creationId xmlns:p14="http://schemas.microsoft.com/office/powerpoint/2010/main" val="2927726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69303B-A107-4DDF-0401-74AEDC8B2271}"/>
              </a:ext>
            </a:extLst>
          </p:cNvPr>
          <p:cNvSpPr>
            <a:spLocks noGrp="1"/>
          </p:cNvSpPr>
          <p:nvPr>
            <p:ph type="title"/>
          </p:nvPr>
        </p:nvSpPr>
        <p:spPr>
          <a:xfrm>
            <a:off x="838200" y="1905017"/>
            <a:ext cx="6019800" cy="1752583"/>
          </a:xfrm>
        </p:spPr>
        <p:txBody>
          <a:bodyPr/>
          <a:lstStyle/>
          <a:p>
            <a:r>
              <a:rPr lang="en-US" dirty="0"/>
              <a:t>Procedures &amp; Methods</a:t>
            </a:r>
          </a:p>
        </p:txBody>
      </p:sp>
    </p:spTree>
    <p:extLst>
      <p:ext uri="{BB962C8B-B14F-4D97-AF65-F5344CB8AC3E}">
        <p14:creationId xmlns:p14="http://schemas.microsoft.com/office/powerpoint/2010/main" val="2041674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6BE24D-6783-4C26-94D9-3D896DAC66B0}"/>
              </a:ext>
            </a:extLst>
          </p:cNvPr>
          <p:cNvSpPr>
            <a:spLocks noGrp="1"/>
          </p:cNvSpPr>
          <p:nvPr>
            <p:ph type="body" sz="quarter" idx="10"/>
          </p:nvPr>
        </p:nvSpPr>
        <p:spPr/>
        <p:txBody>
          <a:bodyPr/>
          <a:lstStyle/>
          <a:p>
            <a:r>
              <a:rPr lang="en-US" dirty="0"/>
              <a:t>Data source</a:t>
            </a:r>
          </a:p>
        </p:txBody>
      </p:sp>
      <p:sp>
        <p:nvSpPr>
          <p:cNvPr id="3" name="Text Placeholder 2">
            <a:extLst>
              <a:ext uri="{FF2B5EF4-FFF2-40B4-BE49-F238E27FC236}">
                <a16:creationId xmlns:a16="http://schemas.microsoft.com/office/drawing/2014/main" id="{CF70F9DA-B1F8-7D1F-9F11-5C64FA40489E}"/>
              </a:ext>
            </a:extLst>
          </p:cNvPr>
          <p:cNvSpPr>
            <a:spLocks noGrp="1"/>
          </p:cNvSpPr>
          <p:nvPr>
            <p:ph type="body" sz="quarter" idx="11"/>
          </p:nvPr>
        </p:nvSpPr>
        <p:spPr>
          <a:xfrm>
            <a:off x="304800" y="2057400"/>
            <a:ext cx="10744200" cy="4876799"/>
          </a:xfrm>
        </p:spPr>
        <p:txBody>
          <a:bodyPr/>
          <a:lstStyle/>
          <a:p>
            <a:r>
              <a:rPr lang="en-US" dirty="0"/>
              <a:t>Using 300 papers from 2017-2022</a:t>
            </a:r>
          </a:p>
          <a:p>
            <a:r>
              <a:rPr lang="en-US" dirty="0"/>
              <a:t>All are parallel-arm cluster randomized trials conducted in LMICs</a:t>
            </a:r>
          </a:p>
          <a:p>
            <a:r>
              <a:rPr lang="en-US" dirty="0"/>
              <a:t>Based on:</a:t>
            </a:r>
          </a:p>
          <a:p>
            <a:pPr lvl="1"/>
            <a:r>
              <a:rPr lang="en-US" dirty="0"/>
              <a:t>Ethics review of 800 </a:t>
            </a:r>
            <a:r>
              <a:rPr lang="en-US" dirty="0" err="1"/>
              <a:t>cRCTs</a:t>
            </a:r>
            <a:endParaRPr lang="en-US" dirty="0"/>
          </a:p>
          <a:p>
            <a:pPr lvl="1"/>
            <a:r>
              <a:rPr lang="en-US" dirty="0"/>
              <a:t>Randomization procedures review using a random subset of 300</a:t>
            </a:r>
          </a:p>
        </p:txBody>
      </p:sp>
      <p:sp>
        <p:nvSpPr>
          <p:cNvPr id="5" name="TextBox 4">
            <a:extLst>
              <a:ext uri="{FF2B5EF4-FFF2-40B4-BE49-F238E27FC236}">
                <a16:creationId xmlns:a16="http://schemas.microsoft.com/office/drawing/2014/main" id="{975AA5E3-8705-8189-B4B0-41F62B10AE34}"/>
              </a:ext>
            </a:extLst>
          </p:cNvPr>
          <p:cNvSpPr txBox="1"/>
          <p:nvPr/>
        </p:nvSpPr>
        <p:spPr>
          <a:xfrm>
            <a:off x="304800" y="6031238"/>
            <a:ext cx="3048000" cy="646331"/>
          </a:xfrm>
          <a:prstGeom prst="rect">
            <a:avLst/>
          </a:prstGeom>
          <a:noFill/>
        </p:spPr>
        <p:txBody>
          <a:bodyPr wrap="square" rtlCol="0">
            <a:spAutoFit/>
          </a:bodyPr>
          <a:lstStyle/>
          <a:p>
            <a:r>
              <a:rPr lang="en-US" i="1" dirty="0"/>
              <a:t>Shaw et al. 2025</a:t>
            </a:r>
          </a:p>
          <a:p>
            <a:r>
              <a:rPr lang="en-US" i="1" dirty="0"/>
              <a:t>Goldstein et al. 2024</a:t>
            </a:r>
          </a:p>
        </p:txBody>
      </p:sp>
    </p:spTree>
    <p:extLst>
      <p:ext uri="{BB962C8B-B14F-4D97-AF65-F5344CB8AC3E}">
        <p14:creationId xmlns:p14="http://schemas.microsoft.com/office/powerpoint/2010/main" val="1284672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AFACF0-D6B6-EDF8-3A97-3C471D2494B8}"/>
              </a:ext>
            </a:extLst>
          </p:cNvPr>
          <p:cNvSpPr>
            <a:spLocks noGrp="1"/>
          </p:cNvSpPr>
          <p:nvPr>
            <p:ph type="body" sz="quarter" idx="10"/>
          </p:nvPr>
        </p:nvSpPr>
        <p:spPr/>
        <p:txBody>
          <a:bodyPr/>
          <a:lstStyle/>
          <a:p>
            <a:r>
              <a:rPr lang="en-US" dirty="0"/>
              <a:t>Data extraction form</a:t>
            </a:r>
          </a:p>
        </p:txBody>
      </p:sp>
      <p:sp>
        <p:nvSpPr>
          <p:cNvPr id="3" name="Text Placeholder 2">
            <a:extLst>
              <a:ext uri="{FF2B5EF4-FFF2-40B4-BE49-F238E27FC236}">
                <a16:creationId xmlns:a16="http://schemas.microsoft.com/office/drawing/2014/main" id="{2BC50CC5-2635-97BE-9A57-3E01719560DD}"/>
              </a:ext>
            </a:extLst>
          </p:cNvPr>
          <p:cNvSpPr>
            <a:spLocks noGrp="1"/>
          </p:cNvSpPr>
          <p:nvPr>
            <p:ph type="body" sz="quarter" idx="11"/>
          </p:nvPr>
        </p:nvSpPr>
        <p:spPr>
          <a:xfrm>
            <a:off x="381000" y="1371599"/>
            <a:ext cx="5105400" cy="4876799"/>
          </a:xfrm>
        </p:spPr>
        <p:txBody>
          <a:bodyPr/>
          <a:lstStyle/>
          <a:p>
            <a:r>
              <a:rPr lang="en-US" dirty="0" err="1"/>
              <a:t>REDCap</a:t>
            </a:r>
            <a:endParaRPr lang="en-US" dirty="0"/>
          </a:p>
          <a:p>
            <a:r>
              <a:rPr lang="en-US" dirty="0"/>
              <a:t>Standard questions:</a:t>
            </a:r>
          </a:p>
          <a:p>
            <a:pPr lvl="1"/>
            <a:r>
              <a:rPr lang="en-US" dirty="0"/>
              <a:t>Total # of participants enrolled in the trial</a:t>
            </a:r>
          </a:p>
          <a:p>
            <a:pPr lvl="1"/>
            <a:r>
              <a:rPr lang="en-US" dirty="0"/>
              <a:t>Type of study</a:t>
            </a:r>
          </a:p>
          <a:p>
            <a:pPr lvl="1"/>
            <a:r>
              <a:rPr lang="en-US" dirty="0"/>
              <a:t>Primary outcome(s)</a:t>
            </a:r>
          </a:p>
          <a:p>
            <a:r>
              <a:rPr lang="en-US" dirty="0"/>
              <a:t>Analysis questions:</a:t>
            </a:r>
          </a:p>
          <a:p>
            <a:pPr lvl="1"/>
            <a:r>
              <a:rPr lang="en-US" dirty="0"/>
              <a:t>How covariates were selected</a:t>
            </a:r>
          </a:p>
          <a:p>
            <a:pPr lvl="1"/>
            <a:r>
              <a:rPr lang="en-US" dirty="0"/>
              <a:t>Distributional summaries of covariates</a:t>
            </a:r>
          </a:p>
        </p:txBody>
      </p:sp>
      <p:pic>
        <p:nvPicPr>
          <p:cNvPr id="5" name="Picture 4">
            <a:extLst>
              <a:ext uri="{FF2B5EF4-FFF2-40B4-BE49-F238E27FC236}">
                <a16:creationId xmlns:a16="http://schemas.microsoft.com/office/drawing/2014/main" id="{8AFFAC60-0DB9-3C10-ACC9-CF3D772779DB}"/>
              </a:ext>
            </a:extLst>
          </p:cNvPr>
          <p:cNvPicPr>
            <a:picLocks noChangeAspect="1"/>
          </p:cNvPicPr>
          <p:nvPr/>
        </p:nvPicPr>
        <p:blipFill>
          <a:blip r:embed="rId3"/>
          <a:stretch>
            <a:fillRect/>
          </a:stretch>
        </p:blipFill>
        <p:spPr>
          <a:xfrm>
            <a:off x="5638800" y="1783481"/>
            <a:ext cx="6553200" cy="4170793"/>
          </a:xfrm>
          <a:prstGeom prst="rect">
            <a:avLst/>
          </a:prstGeom>
        </p:spPr>
      </p:pic>
    </p:spTree>
    <p:extLst>
      <p:ext uri="{BB962C8B-B14F-4D97-AF65-F5344CB8AC3E}">
        <p14:creationId xmlns:p14="http://schemas.microsoft.com/office/powerpoint/2010/main" val="3972358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27F4F-59B9-4E9D-1CE2-A3D65924BA5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3776E4A-F936-9FF2-3115-09454837124B}"/>
              </a:ext>
            </a:extLst>
          </p:cNvPr>
          <p:cNvSpPr>
            <a:spLocks noGrp="1"/>
          </p:cNvSpPr>
          <p:nvPr>
            <p:ph type="body" sz="quarter" idx="10"/>
          </p:nvPr>
        </p:nvSpPr>
        <p:spPr/>
        <p:txBody>
          <a:bodyPr/>
          <a:lstStyle/>
          <a:p>
            <a:r>
              <a:rPr lang="en-US" dirty="0"/>
              <a:t>Data extraction form (cont.)</a:t>
            </a:r>
          </a:p>
        </p:txBody>
      </p:sp>
      <p:pic>
        <p:nvPicPr>
          <p:cNvPr id="11" name="Picture 10" descr="A screenshot of a computer screen&#10;&#10;AI-generated content may be incorrect.">
            <a:extLst>
              <a:ext uri="{FF2B5EF4-FFF2-40B4-BE49-F238E27FC236}">
                <a16:creationId xmlns:a16="http://schemas.microsoft.com/office/drawing/2014/main" id="{C4BCC28F-3CC3-FD19-7DF7-272071CCA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004047"/>
            <a:ext cx="5747543" cy="5740145"/>
          </a:xfrm>
          <a:prstGeom prst="rect">
            <a:avLst/>
          </a:prstGeom>
        </p:spPr>
      </p:pic>
      <p:pic>
        <p:nvPicPr>
          <p:cNvPr id="13" name="Picture 12" descr="A screenshot of a computer screen&#10;&#10;AI-generated content may be incorrect.">
            <a:extLst>
              <a:ext uri="{FF2B5EF4-FFF2-40B4-BE49-F238E27FC236}">
                <a16:creationId xmlns:a16="http://schemas.microsoft.com/office/drawing/2014/main" id="{651961F5-FB9F-3F7B-74B9-76E5F381C2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4100" y="1004047"/>
            <a:ext cx="5576050" cy="2996946"/>
          </a:xfrm>
          <a:prstGeom prst="rect">
            <a:avLst/>
          </a:prstGeom>
        </p:spPr>
      </p:pic>
    </p:spTree>
    <p:extLst>
      <p:ext uri="{BB962C8B-B14F-4D97-AF65-F5344CB8AC3E}">
        <p14:creationId xmlns:p14="http://schemas.microsoft.com/office/powerpoint/2010/main" val="3172395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197942-C454-AFD0-89F5-893EDCDF5969}"/>
              </a:ext>
            </a:extLst>
          </p:cNvPr>
          <p:cNvSpPr>
            <a:spLocks noGrp="1"/>
          </p:cNvSpPr>
          <p:nvPr>
            <p:ph type="body" sz="quarter" idx="10"/>
          </p:nvPr>
        </p:nvSpPr>
        <p:spPr/>
        <p:txBody>
          <a:bodyPr/>
          <a:lstStyle/>
          <a:p>
            <a:r>
              <a:rPr lang="en-US" dirty="0"/>
              <a:t>Data extraction process</a:t>
            </a:r>
          </a:p>
        </p:txBody>
      </p:sp>
      <p:sp>
        <p:nvSpPr>
          <p:cNvPr id="3" name="Text Placeholder 2">
            <a:extLst>
              <a:ext uri="{FF2B5EF4-FFF2-40B4-BE49-F238E27FC236}">
                <a16:creationId xmlns:a16="http://schemas.microsoft.com/office/drawing/2014/main" id="{D9F9D492-C0FB-8B1F-3C3D-B662D9BD6B06}"/>
              </a:ext>
            </a:extLst>
          </p:cNvPr>
          <p:cNvSpPr>
            <a:spLocks noGrp="1"/>
          </p:cNvSpPr>
          <p:nvPr>
            <p:ph type="body" sz="quarter" idx="11"/>
          </p:nvPr>
        </p:nvSpPr>
        <p:spPr>
          <a:xfrm>
            <a:off x="304800" y="1828801"/>
            <a:ext cx="11125200" cy="4876799"/>
          </a:xfrm>
        </p:spPr>
        <p:txBody>
          <a:bodyPr/>
          <a:lstStyle/>
          <a:p>
            <a:r>
              <a:rPr lang="en-US" dirty="0"/>
              <a:t>Two reviewers per article</a:t>
            </a:r>
          </a:p>
          <a:p>
            <a:pPr lvl="1"/>
            <a:r>
              <a:rPr lang="en-US" dirty="0"/>
              <a:t>Senior reviewer and junior reviewer</a:t>
            </a:r>
          </a:p>
          <a:p>
            <a:r>
              <a:rPr lang="en-US" dirty="0"/>
              <a:t>Random assignment of reviewer pairs and articles</a:t>
            </a:r>
          </a:p>
          <a:p>
            <a:r>
              <a:rPr lang="en-US" dirty="0"/>
              <a:t>After individual article data extraction:</a:t>
            </a:r>
          </a:p>
          <a:p>
            <a:pPr lvl="1"/>
            <a:r>
              <a:rPr lang="en-US" dirty="0"/>
              <a:t>Reconciliation meeting</a:t>
            </a:r>
          </a:p>
          <a:p>
            <a:pPr lvl="1"/>
            <a:r>
              <a:rPr lang="en-US" dirty="0"/>
              <a:t>Resolve discrepancies</a:t>
            </a:r>
          </a:p>
          <a:p>
            <a:pPr lvl="1"/>
            <a:r>
              <a:rPr lang="en-US" dirty="0"/>
              <a:t>Document final decisions</a:t>
            </a:r>
          </a:p>
        </p:txBody>
      </p:sp>
    </p:spTree>
    <p:extLst>
      <p:ext uri="{BB962C8B-B14F-4D97-AF65-F5344CB8AC3E}">
        <p14:creationId xmlns:p14="http://schemas.microsoft.com/office/powerpoint/2010/main" val="2403781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1BCD4-7FC2-130C-BA8A-998B37EF396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CA9E5B2-FBCE-05A3-68E5-EC884E011097}"/>
              </a:ext>
            </a:extLst>
          </p:cNvPr>
          <p:cNvSpPr>
            <a:spLocks noGrp="1"/>
          </p:cNvSpPr>
          <p:nvPr>
            <p:ph type="body" sz="quarter" idx="10"/>
          </p:nvPr>
        </p:nvSpPr>
        <p:spPr/>
        <p:txBody>
          <a:bodyPr/>
          <a:lstStyle/>
          <a:p>
            <a:r>
              <a:rPr lang="en-US" dirty="0"/>
              <a:t>Data extraction process (cont.)</a:t>
            </a:r>
          </a:p>
        </p:txBody>
      </p:sp>
      <p:pic>
        <p:nvPicPr>
          <p:cNvPr id="5" name="Picture 4">
            <a:extLst>
              <a:ext uri="{FF2B5EF4-FFF2-40B4-BE49-F238E27FC236}">
                <a16:creationId xmlns:a16="http://schemas.microsoft.com/office/drawing/2014/main" id="{5E5AB0B8-9B3D-04ED-C959-FC2E87B71B4E}"/>
              </a:ext>
            </a:extLst>
          </p:cNvPr>
          <p:cNvPicPr>
            <a:picLocks noChangeAspect="1"/>
          </p:cNvPicPr>
          <p:nvPr/>
        </p:nvPicPr>
        <p:blipFill>
          <a:blip r:embed="rId3"/>
          <a:stretch>
            <a:fillRect/>
          </a:stretch>
        </p:blipFill>
        <p:spPr>
          <a:xfrm>
            <a:off x="218149" y="1752600"/>
            <a:ext cx="11755702" cy="2228850"/>
          </a:xfrm>
          <a:prstGeom prst="rect">
            <a:avLst/>
          </a:prstGeom>
        </p:spPr>
      </p:pic>
      <p:pic>
        <p:nvPicPr>
          <p:cNvPr id="4" name="Picture 3">
            <a:extLst>
              <a:ext uri="{FF2B5EF4-FFF2-40B4-BE49-F238E27FC236}">
                <a16:creationId xmlns:a16="http://schemas.microsoft.com/office/drawing/2014/main" id="{F431A842-3FF5-BB34-98CA-493CB34E838F}"/>
              </a:ext>
            </a:extLst>
          </p:cNvPr>
          <p:cNvPicPr>
            <a:picLocks noChangeAspect="1"/>
          </p:cNvPicPr>
          <p:nvPr/>
        </p:nvPicPr>
        <p:blipFill>
          <a:blip r:embed="rId4"/>
          <a:srcRect t="28043" r="47764"/>
          <a:stretch>
            <a:fillRect/>
          </a:stretch>
        </p:blipFill>
        <p:spPr>
          <a:xfrm>
            <a:off x="1106922" y="4267200"/>
            <a:ext cx="9865878" cy="1828800"/>
          </a:xfrm>
          <a:prstGeom prst="rect">
            <a:avLst/>
          </a:prstGeom>
        </p:spPr>
      </p:pic>
    </p:spTree>
    <p:extLst>
      <p:ext uri="{BB962C8B-B14F-4D97-AF65-F5344CB8AC3E}">
        <p14:creationId xmlns:p14="http://schemas.microsoft.com/office/powerpoint/2010/main" val="1998551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50D85B-8227-3C55-C5C5-1081FEA7C7F4}"/>
              </a:ext>
            </a:extLst>
          </p:cNvPr>
          <p:cNvSpPr>
            <a:spLocks noGrp="1"/>
          </p:cNvSpPr>
          <p:nvPr>
            <p:ph type="title"/>
          </p:nvPr>
        </p:nvSpPr>
        <p:spPr>
          <a:xfrm>
            <a:off x="838200" y="1905017"/>
            <a:ext cx="6019800" cy="1752583"/>
          </a:xfrm>
        </p:spPr>
        <p:txBody>
          <a:bodyPr/>
          <a:lstStyle/>
          <a:p>
            <a:r>
              <a:rPr lang="en-US" dirty="0"/>
              <a:t>Results &amp; Next Steps</a:t>
            </a:r>
          </a:p>
        </p:txBody>
      </p:sp>
    </p:spTree>
    <p:extLst>
      <p:ext uri="{BB962C8B-B14F-4D97-AF65-F5344CB8AC3E}">
        <p14:creationId xmlns:p14="http://schemas.microsoft.com/office/powerpoint/2010/main" val="2138999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0B6C50-C8CE-8E92-340C-81316E2B560F}"/>
              </a:ext>
            </a:extLst>
          </p:cNvPr>
          <p:cNvSpPr>
            <a:spLocks noGrp="1"/>
          </p:cNvSpPr>
          <p:nvPr>
            <p:ph type="body" sz="quarter" idx="10"/>
          </p:nvPr>
        </p:nvSpPr>
        <p:spPr/>
        <p:txBody>
          <a:bodyPr/>
          <a:lstStyle/>
          <a:p>
            <a:r>
              <a:rPr lang="en-US" dirty="0"/>
              <a:t>Results</a:t>
            </a:r>
          </a:p>
        </p:txBody>
      </p:sp>
      <p:sp>
        <p:nvSpPr>
          <p:cNvPr id="3" name="Text Placeholder 2">
            <a:extLst>
              <a:ext uri="{FF2B5EF4-FFF2-40B4-BE49-F238E27FC236}">
                <a16:creationId xmlns:a16="http://schemas.microsoft.com/office/drawing/2014/main" id="{9D9C30ED-0629-FFE9-88F8-C932F9282557}"/>
              </a:ext>
            </a:extLst>
          </p:cNvPr>
          <p:cNvSpPr>
            <a:spLocks noGrp="1"/>
          </p:cNvSpPr>
          <p:nvPr>
            <p:ph type="body" sz="quarter" idx="11"/>
          </p:nvPr>
        </p:nvSpPr>
        <p:spPr>
          <a:xfrm>
            <a:off x="301666" y="1371599"/>
            <a:ext cx="9680534" cy="990601"/>
          </a:xfrm>
        </p:spPr>
        <p:txBody>
          <a:bodyPr/>
          <a:lstStyle/>
          <a:p>
            <a:r>
              <a:rPr lang="en-US" dirty="0"/>
              <a:t>Article data extraction and reconciliation ongoing</a:t>
            </a:r>
          </a:p>
        </p:txBody>
      </p:sp>
      <p:pic>
        <p:nvPicPr>
          <p:cNvPr id="6" name="Picture 5">
            <a:extLst>
              <a:ext uri="{FF2B5EF4-FFF2-40B4-BE49-F238E27FC236}">
                <a16:creationId xmlns:a16="http://schemas.microsoft.com/office/drawing/2014/main" id="{971A849A-F6E0-46CA-3613-F36C4785BAE3}"/>
              </a:ext>
            </a:extLst>
          </p:cNvPr>
          <p:cNvPicPr>
            <a:picLocks noChangeAspect="1"/>
          </p:cNvPicPr>
          <p:nvPr/>
        </p:nvPicPr>
        <p:blipFill>
          <a:blip r:embed="rId3"/>
          <a:stretch>
            <a:fillRect/>
          </a:stretch>
        </p:blipFill>
        <p:spPr>
          <a:xfrm>
            <a:off x="301666" y="2209801"/>
            <a:ext cx="11588667" cy="3276600"/>
          </a:xfrm>
          <a:prstGeom prst="rect">
            <a:avLst/>
          </a:prstGeom>
        </p:spPr>
      </p:pic>
    </p:spTree>
    <p:extLst>
      <p:ext uri="{BB962C8B-B14F-4D97-AF65-F5344CB8AC3E}">
        <p14:creationId xmlns:p14="http://schemas.microsoft.com/office/powerpoint/2010/main" val="494340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3BC1B1-283D-B9B8-50F0-6BFF759E9DD9}"/>
              </a:ext>
            </a:extLst>
          </p:cNvPr>
          <p:cNvSpPr>
            <a:spLocks noGrp="1"/>
          </p:cNvSpPr>
          <p:nvPr>
            <p:ph type="body" sz="quarter" idx="10"/>
          </p:nvPr>
        </p:nvSpPr>
        <p:spPr/>
        <p:txBody>
          <a:bodyPr/>
          <a:lstStyle/>
          <a:p>
            <a:r>
              <a:rPr lang="en-US" dirty="0"/>
              <a:t>Next steps</a:t>
            </a:r>
          </a:p>
        </p:txBody>
      </p:sp>
      <p:sp>
        <p:nvSpPr>
          <p:cNvPr id="3" name="Text Placeholder 2">
            <a:extLst>
              <a:ext uri="{FF2B5EF4-FFF2-40B4-BE49-F238E27FC236}">
                <a16:creationId xmlns:a16="http://schemas.microsoft.com/office/drawing/2014/main" id="{9BAABA29-0FAC-03A0-36B1-92C21E5B1433}"/>
              </a:ext>
            </a:extLst>
          </p:cNvPr>
          <p:cNvSpPr>
            <a:spLocks noGrp="1"/>
          </p:cNvSpPr>
          <p:nvPr>
            <p:ph type="body" sz="quarter" idx="11"/>
          </p:nvPr>
        </p:nvSpPr>
        <p:spPr/>
        <p:txBody>
          <a:bodyPr/>
          <a:lstStyle/>
          <a:p>
            <a:r>
              <a:rPr lang="en-US" dirty="0"/>
              <a:t>Finish article data extraction and reconciliation</a:t>
            </a:r>
          </a:p>
          <a:p>
            <a:r>
              <a:rPr lang="en-US" dirty="0"/>
              <a:t>Merge and clean data </a:t>
            </a:r>
          </a:p>
          <a:p>
            <a:r>
              <a:rPr lang="en-US" dirty="0"/>
              <a:t>Create summary tables </a:t>
            </a:r>
          </a:p>
          <a:p>
            <a:r>
              <a:rPr lang="en-US" dirty="0"/>
              <a:t>Identify patterns:</a:t>
            </a:r>
          </a:p>
          <a:p>
            <a:pPr lvl="1"/>
            <a:r>
              <a:rPr lang="en-US" dirty="0"/>
              <a:t>Which covariates are most common?</a:t>
            </a:r>
          </a:p>
          <a:p>
            <a:pPr lvl="1"/>
            <a:r>
              <a:rPr lang="en-US" dirty="0"/>
              <a:t>How often do authors give a rationale?</a:t>
            </a:r>
          </a:p>
          <a:p>
            <a:r>
              <a:rPr lang="en-US" dirty="0"/>
              <a:t>Draft manuscript and think about how to frame main findings</a:t>
            </a:r>
          </a:p>
        </p:txBody>
      </p:sp>
    </p:spTree>
    <p:extLst>
      <p:ext uri="{BB962C8B-B14F-4D97-AF65-F5344CB8AC3E}">
        <p14:creationId xmlns:p14="http://schemas.microsoft.com/office/powerpoint/2010/main" val="1880089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4CDDE0-B7CB-7D4E-6F29-9FD1175B80D5}"/>
              </a:ext>
            </a:extLst>
          </p:cNvPr>
          <p:cNvSpPr>
            <a:spLocks noGrp="1"/>
          </p:cNvSpPr>
          <p:nvPr>
            <p:ph type="body" sz="quarter" idx="10"/>
          </p:nvPr>
        </p:nvSpPr>
        <p:spPr/>
        <p:txBody>
          <a:bodyPr/>
          <a:lstStyle/>
          <a:p>
            <a:r>
              <a:rPr lang="en-US" dirty="0"/>
              <a:t>References</a:t>
            </a:r>
          </a:p>
        </p:txBody>
      </p:sp>
      <p:sp>
        <p:nvSpPr>
          <p:cNvPr id="3" name="Text Placeholder 2">
            <a:extLst>
              <a:ext uri="{FF2B5EF4-FFF2-40B4-BE49-F238E27FC236}">
                <a16:creationId xmlns:a16="http://schemas.microsoft.com/office/drawing/2014/main" id="{76812244-8E00-D79F-A0E8-E44FFBB8A487}"/>
              </a:ext>
            </a:extLst>
          </p:cNvPr>
          <p:cNvSpPr>
            <a:spLocks noGrp="1"/>
          </p:cNvSpPr>
          <p:nvPr>
            <p:ph type="body" sz="quarter" idx="11"/>
          </p:nvPr>
        </p:nvSpPr>
        <p:spPr>
          <a:xfrm>
            <a:off x="152400" y="1524000"/>
            <a:ext cx="11887200" cy="4876799"/>
          </a:xfrm>
        </p:spPr>
        <p:txBody>
          <a:bodyPr/>
          <a:lstStyle/>
          <a:p>
            <a:r>
              <a:rPr lang="en-US" sz="1600" dirty="0"/>
              <a:t>Goldstein, C. E., Marouf, Y., Johri, M., Shaw, J. F., Sergeant, A., Nicholls, S. G., </a:t>
            </a:r>
            <a:r>
              <a:rPr lang="en-US" sz="1600" dirty="0" err="1"/>
              <a:t>Althabe</a:t>
            </a:r>
            <a:r>
              <a:rPr lang="en-US" sz="1600" dirty="0"/>
              <a:t>, </a:t>
            </a:r>
            <a:r>
              <a:rPr lang="en-US" sz="1600" dirty="0" err="1"/>
              <a:t>F.,Ferrand</a:t>
            </a:r>
            <a:r>
              <a:rPr lang="en-US" sz="1600" dirty="0"/>
              <a:t>, R. A., van der Graaf, R., Hemming, K., </a:t>
            </a:r>
            <a:r>
              <a:rPr lang="en-US" sz="1600" dirty="0" err="1"/>
              <a:t>Mbuagbaw</a:t>
            </a:r>
            <a:r>
              <a:rPr lang="en-US" sz="1600" dirty="0"/>
              <a:t>, L., Treweek, S., Welch, V. A.,</a:t>
            </a:r>
            <a:r>
              <a:rPr lang="en-US" sz="1600" dirty="0" err="1"/>
              <a:t>Weijer</a:t>
            </a:r>
            <a:r>
              <a:rPr lang="en-US" sz="1600" dirty="0"/>
              <a:t>, C., &amp; Taljaard, M. (2024). Systematic scoping review of cluster </a:t>
            </a:r>
            <a:r>
              <a:rPr lang="en-US" sz="1600" dirty="0" err="1"/>
              <a:t>randomised</a:t>
            </a:r>
            <a:r>
              <a:rPr lang="en-US" sz="1600" dirty="0"/>
              <a:t> </a:t>
            </a:r>
            <a:r>
              <a:rPr lang="en-US" sz="1600" dirty="0" err="1"/>
              <a:t>trialsconducted</a:t>
            </a:r>
            <a:r>
              <a:rPr lang="en-US" sz="1600" dirty="0"/>
              <a:t> exclusively in low-income and middle-income countries between 2017 and2022. BMJ Open, 14(9), e087724. https://doi.org/10.1136/bmjopen-2024-087724</a:t>
            </a:r>
          </a:p>
          <a:p>
            <a:r>
              <a:rPr lang="en-US" sz="1600" dirty="0" err="1"/>
              <a:t>Maselko</a:t>
            </a:r>
            <a:r>
              <a:rPr lang="en-US" sz="1600" dirty="0"/>
              <a:t>, J., Sikander, S., Turner, E. L., Bates, L. M., Ahmad, I., Atif, N., Baranov, V., </a:t>
            </a:r>
            <a:r>
              <a:rPr lang="en-US" sz="1600" dirty="0" err="1"/>
              <a:t>Bhalotra</a:t>
            </a:r>
            <a:r>
              <a:rPr lang="en-US" sz="1600" dirty="0"/>
              <a:t>, S., Bibi, A., Bibi, T., Bilal, S., </a:t>
            </a:r>
            <a:r>
              <a:rPr lang="en-US" sz="1600" dirty="0" err="1"/>
              <a:t>Biroli</a:t>
            </a:r>
            <a:r>
              <a:rPr lang="en-US" sz="1600" dirty="0"/>
              <a:t>, P., Chung, E., Gallis, J. A., Hagaman, A., Jamil, A., LeMasters, K., O’Donnell, K., Scherer, E., Sharif, M., Waqas, A., Zaidi, A., Zulfiqar, S., &amp; Rahman, A. (2020). Effectiveness of a peer-delivered, psychosocial intervention on maternal depression and child development at 3 years of age: A cluster </a:t>
            </a:r>
            <a:r>
              <a:rPr lang="en-US" sz="1600" dirty="0" err="1"/>
              <a:t>randomised</a:t>
            </a:r>
            <a:r>
              <a:rPr lang="en-US" sz="1600" dirty="0"/>
              <a:t> trial in Pakistan. </a:t>
            </a:r>
            <a:r>
              <a:rPr lang="en-US" sz="1600" i="1" dirty="0"/>
              <a:t>The Lancet Psychiatry</a:t>
            </a:r>
            <a:r>
              <a:rPr lang="en-US" sz="1600" dirty="0"/>
              <a:t>, </a:t>
            </a:r>
            <a:r>
              <a:rPr lang="en-US" sz="1600" i="1" dirty="0"/>
              <a:t>7</a:t>
            </a:r>
            <a:r>
              <a:rPr lang="en-US" sz="1600" dirty="0"/>
              <a:t>(9), 727–737. https://doi.org/10.1016/S2215-0366(20)30230-3</a:t>
            </a:r>
          </a:p>
          <a:p>
            <a:r>
              <a:rPr lang="en-US" sz="1600" dirty="0"/>
              <a:t>Pocock, S. J., Assmann, S. E., Enos, L. E., &amp; Kasten, L. E. (2002). Subgroup analysis, covariate adjustment and baseline comparisons in clinical trial reporting: Current practice and problems. </a:t>
            </a:r>
            <a:r>
              <a:rPr lang="en-US" sz="1600" i="1" dirty="0"/>
              <a:t>Statistics in Medicine</a:t>
            </a:r>
            <a:r>
              <a:rPr lang="en-US" sz="1600" dirty="0"/>
              <a:t>, </a:t>
            </a:r>
            <a:r>
              <a:rPr lang="en-US" sz="1600" i="1" dirty="0"/>
              <a:t>21</a:t>
            </a:r>
            <a:r>
              <a:rPr lang="en-US" sz="1600" dirty="0"/>
              <a:t>(19), 2917–2930. https://doi.org/10.1002/sim.1296 </a:t>
            </a:r>
          </a:p>
          <a:p>
            <a:r>
              <a:rPr lang="en-US" sz="1600" dirty="0"/>
              <a:t>Shaw, J. F., Goldstein, C. E., Mazzetti, T., Armond, A., Marouf, Y., Lamprecht, K., Tran, E., </a:t>
            </a:r>
            <a:r>
              <a:rPr lang="en-US" sz="1600" dirty="0" err="1"/>
              <a:t>Abdul,S</a:t>
            </a:r>
            <a:r>
              <a:rPr lang="en-US" sz="1600" dirty="0"/>
              <a:t>., London, A. J., &amp; </a:t>
            </a:r>
            <a:r>
              <a:rPr lang="en-US" sz="1600" dirty="0" err="1"/>
              <a:t>Weijer</a:t>
            </a:r>
            <a:r>
              <a:rPr lang="en-US" sz="1600" dirty="0"/>
              <a:t>, C. (2025). Randomization procedures in parallel-arm </a:t>
            </a:r>
            <a:r>
              <a:rPr lang="en-US" sz="1600" dirty="0" err="1"/>
              <a:t>clusterrandomized</a:t>
            </a:r>
            <a:r>
              <a:rPr lang="en-US" sz="1600" dirty="0"/>
              <a:t> trials in low-and middle-income countries: a review of 300 trials </a:t>
            </a:r>
            <a:r>
              <a:rPr lang="en-US" sz="1600" dirty="0" err="1"/>
              <a:t>publishedbetween</a:t>
            </a:r>
            <a:r>
              <a:rPr lang="en-US" sz="1600" dirty="0"/>
              <a:t> 2017-2022. Journal of Clinical Epidemiology, 111825. </a:t>
            </a:r>
          </a:p>
          <a:p>
            <a:r>
              <a:rPr lang="en-US" sz="1600" dirty="0"/>
              <a:t>Wright, N., Ivers, N., Eldridge, S., Taljaard, M., &amp; Bremner, S. (2015). A review of the use </a:t>
            </a:r>
            <a:r>
              <a:rPr lang="en-US" sz="1600" dirty="0" err="1"/>
              <a:t>ofcovariates</a:t>
            </a:r>
            <a:r>
              <a:rPr lang="en-US" sz="1600" dirty="0"/>
              <a:t> in cluster randomized trials uncovers marked discrepancies between </a:t>
            </a:r>
            <a:r>
              <a:rPr lang="en-US" sz="1600" dirty="0" err="1"/>
              <a:t>guidanceand</a:t>
            </a:r>
            <a:r>
              <a:rPr lang="en-US" sz="1600" dirty="0"/>
              <a:t> practice. Journal of Clinical Epidemiology, 68(6), 603-609.</a:t>
            </a:r>
          </a:p>
        </p:txBody>
      </p:sp>
    </p:spTree>
    <p:extLst>
      <p:ext uri="{BB962C8B-B14F-4D97-AF65-F5344CB8AC3E}">
        <p14:creationId xmlns:p14="http://schemas.microsoft.com/office/powerpoint/2010/main" val="4004842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69C368-FEB9-9B1E-CEF4-CB1DEDDDE343}"/>
              </a:ext>
            </a:extLst>
          </p:cNvPr>
          <p:cNvSpPr>
            <a:spLocks noGrp="1"/>
          </p:cNvSpPr>
          <p:nvPr>
            <p:ph type="body" sz="quarter" idx="11"/>
          </p:nvPr>
        </p:nvSpPr>
        <p:spPr>
          <a:xfrm>
            <a:off x="838200" y="3886200"/>
            <a:ext cx="6705600" cy="594090"/>
          </a:xfrm>
        </p:spPr>
        <p:txBody>
          <a:bodyPr/>
          <a:lstStyle/>
          <a:p>
            <a:r>
              <a:rPr lang="en-US" dirty="0"/>
              <a:t>Special Thanks: John Gallis</a:t>
            </a:r>
          </a:p>
        </p:txBody>
      </p:sp>
      <p:sp>
        <p:nvSpPr>
          <p:cNvPr id="4" name="Title 3">
            <a:extLst>
              <a:ext uri="{FF2B5EF4-FFF2-40B4-BE49-F238E27FC236}">
                <a16:creationId xmlns:a16="http://schemas.microsoft.com/office/drawing/2014/main" id="{732218CA-FDF2-6354-BA96-857CCF58AAEE}"/>
              </a:ext>
            </a:extLst>
          </p:cNvPr>
          <p:cNvSpPr>
            <a:spLocks noGrp="1"/>
          </p:cNvSpPr>
          <p:nvPr>
            <p:ph type="title"/>
          </p:nvPr>
        </p:nvSpPr>
        <p:spPr/>
        <p:txBody>
          <a:bodyPr/>
          <a:lstStyle/>
          <a:p>
            <a:r>
              <a:rPr lang="en-US" dirty="0"/>
              <a:t>Thank you! Questions?</a:t>
            </a:r>
          </a:p>
        </p:txBody>
      </p:sp>
    </p:spTree>
    <p:extLst>
      <p:ext uri="{BB962C8B-B14F-4D97-AF65-F5344CB8AC3E}">
        <p14:creationId xmlns:p14="http://schemas.microsoft.com/office/powerpoint/2010/main" val="1718212794"/>
      </p:ext>
    </p:extLst>
  </p:cSld>
  <p:clrMapOvr>
    <a:masterClrMapping/>
  </p:clrMapOvr>
</p:sld>
</file>

<file path=ppt/theme/theme1.xml><?xml version="1.0" encoding="utf-8"?>
<a:theme xmlns:a="http://schemas.openxmlformats.org/drawingml/2006/main" name="SOM PowerPoint Template-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chool of Medicine Presentation Template 2023.potx" id="{E02C4C52-9E7E-4E42-8FDF-BA3B35447B6E}" vid="{00A51D9F-0538-40AE-A50F-7E0C6CDBECA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29101</TotalTime>
  <Words>3356</Words>
  <Application>Microsoft Office PowerPoint</Application>
  <PresentationFormat>Widescreen</PresentationFormat>
  <Paragraphs>210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Verdana</vt:lpstr>
      <vt:lpstr>SOM PowerPoint Template-2015</vt:lpstr>
      <vt:lpstr>Prevalence and rationale for covariate adjustment in cluster randomized trials: A scoping review</vt:lpstr>
      <vt:lpstr>PowerPoint Presentation</vt:lpstr>
      <vt:lpstr>Introduction &amp; Background</vt:lpstr>
      <vt:lpstr>PowerPoint Presentation</vt:lpstr>
      <vt:lpstr>PowerPoint Presentation</vt:lpstr>
      <vt:lpstr>PowerPoint Presentation</vt:lpstr>
      <vt:lpstr>PowerPoint Presentation</vt:lpstr>
      <vt:lpstr>PowerPoint Presentation</vt:lpstr>
      <vt:lpstr>PowerPoint Presentation</vt:lpstr>
      <vt:lpstr>Procedures &amp; Methods</vt:lpstr>
      <vt:lpstr>PowerPoint Presentation</vt:lpstr>
      <vt:lpstr>PowerPoint Presentation</vt:lpstr>
      <vt:lpstr>PowerPoint Presentation</vt:lpstr>
      <vt:lpstr>PowerPoint Presentation</vt:lpstr>
      <vt:lpstr>PowerPoint Presentation</vt:lpstr>
      <vt:lpstr>Results &amp; Next Steps</vt:lpstr>
      <vt:lpstr>PowerPoint Presentation</vt:lpstr>
      <vt:lpstr>PowerPoint Presentation</vt:lpstr>
      <vt:lpstr>PowerPoint Presentation</vt:lpstr>
      <vt:lpstr>Thank you! Questions?</vt:lpstr>
    </vt:vector>
  </TitlesOfParts>
  <Company>Duke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 of the School Address</dc:title>
  <dc:creator>Ann Davis</dc:creator>
  <cp:lastModifiedBy>Christine Bui</cp:lastModifiedBy>
  <cp:revision>972</cp:revision>
  <cp:lastPrinted>2021-06-23T15:21:11Z</cp:lastPrinted>
  <dcterms:created xsi:type="dcterms:W3CDTF">2018-06-06T14:32:04Z</dcterms:created>
  <dcterms:modified xsi:type="dcterms:W3CDTF">2025-11-21T16:36:42Z</dcterms:modified>
</cp:coreProperties>
</file>